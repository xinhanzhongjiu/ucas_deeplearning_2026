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57893540be42e7" /><Relationship Type="http://schemas.openxmlformats.org/officeDocument/2006/relationships/extended-properties" Target="/docProps/app.xml" Id="R1ab0282dc3654a3f" /><Relationship Type="http://schemas.openxmlformats.org/officeDocument/2006/relationships/officeDocument" Target="/ppt/presentation.xml" Id="R6230088b38274a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93b1a6c4124915"/>
  </p:sldMasterIdLst>
  <p:notesMasterIdLst>
    <p:notesMasterId xmlns:r="http://schemas.openxmlformats.org/officeDocument/2006/relationships" r:id="R6c84508a34764fb6"/>
  </p:notesMasterIdLst>
  <p:sldIdLst>
    <p:sldId xmlns:r="http://schemas.openxmlformats.org/officeDocument/2006/relationships" id="256" r:id="Rabb90a8c36ab4b45"/>
    <p:sldId xmlns:r="http://schemas.openxmlformats.org/officeDocument/2006/relationships" id="257" r:id="Rb4515131856541f6"/>
    <p:sldId xmlns:r="http://schemas.openxmlformats.org/officeDocument/2006/relationships" id="258" r:id="R2ad96f9707df4226"/>
    <p:sldId xmlns:r="http://schemas.openxmlformats.org/officeDocument/2006/relationships" id="259" r:id="R62692653ee654d6f"/>
    <p:sldId xmlns:r="http://schemas.openxmlformats.org/officeDocument/2006/relationships" id="260" r:id="R6e157c5204a148b7"/>
    <p:sldId xmlns:r="http://schemas.openxmlformats.org/officeDocument/2006/relationships" id="261" r:id="R5e6f093ab93443c3"/>
    <p:sldId xmlns:r="http://schemas.openxmlformats.org/officeDocument/2006/relationships" id="262" r:id="R68f63555b33e4861"/>
    <p:sldId xmlns:r="http://schemas.openxmlformats.org/officeDocument/2006/relationships" id="263" r:id="Rfed3c17c1ec94ad4"/>
    <p:sldId xmlns:r="http://schemas.openxmlformats.org/officeDocument/2006/relationships" id="264" r:id="Ra2691958168445b1"/>
    <p:sldId xmlns:r="http://schemas.openxmlformats.org/officeDocument/2006/relationships" id="265" r:id="R89eb61f2fb5d4ba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02dabf3c0645da" /><Relationship Type="http://schemas.openxmlformats.org/officeDocument/2006/relationships/slideMaster" Target="/ppt/slideMasters/slideMaster1.xml" Id="R2693b1a6c4124915" /><Relationship Type="http://schemas.openxmlformats.org/officeDocument/2006/relationships/notesMaster" Target="/ppt/notesMasters/notesMaster1.xml" Id="R6c84508a34764fb6" /><Relationship Type="http://schemas.openxmlformats.org/officeDocument/2006/relationships/presProps" Target="/ppt/presProps.xml" Id="R8cf90d23793b48d1" /><Relationship Type="http://schemas.openxmlformats.org/officeDocument/2006/relationships/tableStyles" Target="/ppt/tableStyles.xml" Id="R8ebfd9054e2145c6" /><Relationship Type="http://schemas.openxmlformats.org/officeDocument/2006/relationships/slide" Target="/ppt/slides/slide1.xml" Id="Rabb90a8c36ab4b45" /><Relationship Type="http://schemas.openxmlformats.org/officeDocument/2006/relationships/slide" Target="/ppt/slides/slide2.xml" Id="Rb4515131856541f6" /><Relationship Type="http://schemas.openxmlformats.org/officeDocument/2006/relationships/slide" Target="/ppt/slides/slide3.xml" Id="R2ad96f9707df4226" /><Relationship Type="http://schemas.openxmlformats.org/officeDocument/2006/relationships/slide" Target="/ppt/slides/slide4.xml" Id="R62692653ee654d6f" /><Relationship Type="http://schemas.openxmlformats.org/officeDocument/2006/relationships/slide" Target="/ppt/slides/slide5.xml" Id="R6e157c5204a148b7" /><Relationship Type="http://schemas.openxmlformats.org/officeDocument/2006/relationships/slide" Target="/ppt/slides/slide6.xml" Id="R5e6f093ab93443c3" /><Relationship Type="http://schemas.openxmlformats.org/officeDocument/2006/relationships/slide" Target="/ppt/slides/slide7.xml" Id="R68f63555b33e4861" /><Relationship Type="http://schemas.openxmlformats.org/officeDocument/2006/relationships/slide" Target="/ppt/slides/slide8.xml" Id="Rfed3c17c1ec94ad4" /><Relationship Type="http://schemas.openxmlformats.org/officeDocument/2006/relationships/slide" Target="/ppt/slides/slide9.xml" Id="Ra2691958168445b1" /><Relationship Type="http://schemas.openxmlformats.org/officeDocument/2006/relationships/slide" Target="/ppt/slides/slide10.xml" Id="R89eb61f2fb5d4ba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5de26fc0e14d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63486c8eb94d2b" /><Relationship Type="http://schemas.openxmlformats.org/officeDocument/2006/relationships/notesMaster" Target="/ppt/notesMasters/notesMaster1.xml" Id="R8afd6733a91c49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6d10102d77470b" /><Relationship Type="http://schemas.openxmlformats.org/officeDocument/2006/relationships/notesMaster" Target="/ppt/notesMasters/notesMaster1.xml" Id="R761d8e4940ed44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c192064dc2414d" /><Relationship Type="http://schemas.openxmlformats.org/officeDocument/2006/relationships/notesMaster" Target="/ppt/notesMasters/notesMaster1.xml" Id="Raa545638ea4244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8ea91003ea2482f" /><Relationship Type="http://schemas.openxmlformats.org/officeDocument/2006/relationships/notesMaster" Target="/ppt/notesMasters/notesMaster1.xml" Id="R54e06cc06ac94a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33734a66904c1e" /><Relationship Type="http://schemas.openxmlformats.org/officeDocument/2006/relationships/notesMaster" Target="/ppt/notesMasters/notesMaster1.xml" Id="R90a10e9709cc49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236cc8e2447a7" /><Relationship Type="http://schemas.openxmlformats.org/officeDocument/2006/relationships/notesMaster" Target="/ppt/notesMasters/notesMaster1.xml" Id="R2df61285bf7844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1166defcf04ad8" /><Relationship Type="http://schemas.openxmlformats.org/officeDocument/2006/relationships/notesMaster" Target="/ppt/notesMasters/notesMaster1.xml" Id="Rc58297503bc94b0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3b201f4f2204d83" /><Relationship Type="http://schemas.openxmlformats.org/officeDocument/2006/relationships/notesMaster" Target="/ppt/notesMasters/notesMaster1.xml" Id="Rd6056a14f37b40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26f830f6fb94c38" /><Relationship Type="http://schemas.openxmlformats.org/officeDocument/2006/relationships/notesMaster" Target="/ppt/notesMasters/notesMaster1.xml" Id="Rf6e18fcabc5747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0812514a7f45b4" /><Relationship Type="http://schemas.openxmlformats.org/officeDocument/2006/relationships/notesMaster" Target="/ppt/notesMasters/notesMaster1.xml" Id="Rba7a2ab2a67c4d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49ed82ebb64f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07b122d94346b2" /><Relationship Type="http://schemas.openxmlformats.org/officeDocument/2006/relationships/slideLayout" Target="/ppt/slideLayouts/slideLayout1.xml" Id="Rbbcda1b10a704c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cda1b10a704c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c81cd8f534eb9" /><Relationship Type="http://schemas.openxmlformats.org/officeDocument/2006/relationships/notesSlide" Target="/ppt/notesSlides/notesSlide1.xml" Id="R67ef1b91b7c146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d5e6bb6634f94" /><Relationship Type="http://schemas.openxmlformats.org/officeDocument/2006/relationships/notesSlide" Target="/ppt/notesSlides/notesSlide2.xml" Id="R3bcc5055d1fa4c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0d64b75c24a90" /><Relationship Type="http://schemas.openxmlformats.org/officeDocument/2006/relationships/notesSlide" Target="/ppt/notesSlides/notesSlide3.xml" Id="Rec826bc1ee2a451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c4cbb02494d2b" /><Relationship Type="http://schemas.openxmlformats.org/officeDocument/2006/relationships/image" Target="/ppt/media/image.png" Id="R86dcc1c289bc4ff2" /><Relationship Type="http://schemas.openxmlformats.org/officeDocument/2006/relationships/notesSlide" Target="/ppt/notesSlides/notesSlide4.xml" Id="R6113b011afb2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a63868f3e4793" /><Relationship Type="http://schemas.openxmlformats.org/officeDocument/2006/relationships/notesSlide" Target="/ppt/notesSlides/notesSlide5.xml" Id="R7e74abcd8c6f4b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64d5a2b2f463b" /><Relationship Type="http://schemas.openxmlformats.org/officeDocument/2006/relationships/image" Target="/ppt/media/image2.png" Id="R3c80131ae0ab4edf" /><Relationship Type="http://schemas.openxmlformats.org/officeDocument/2006/relationships/notesSlide" Target="/ppt/notesSlides/notesSlide6.xml" Id="Rcc0f9c63c45b48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eaee5bc6741e5" /><Relationship Type="http://schemas.openxmlformats.org/officeDocument/2006/relationships/image" Target="/ppt/media/image3.png" Id="R489bdde4a13641c9" /><Relationship Type="http://schemas.openxmlformats.org/officeDocument/2006/relationships/notesSlide" Target="/ppt/notesSlides/notesSlide7.xml" Id="R9a1322b29f144f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fab4d0e3e4032" /><Relationship Type="http://schemas.openxmlformats.org/officeDocument/2006/relationships/image" Target="/ppt/media/image4.png" Id="R3289be2004df4a08" /><Relationship Type="http://schemas.openxmlformats.org/officeDocument/2006/relationships/notesSlide" Target="/ppt/notesSlides/notesSlide8.xml" Id="Rbf39e55a5f4643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c3bca51bc4035" /><Relationship Type="http://schemas.openxmlformats.org/officeDocument/2006/relationships/image" Target="/ppt/media/image5.png" Id="R4f19129f58a64873" /><Relationship Type="http://schemas.openxmlformats.org/officeDocument/2006/relationships/notesSlide" Target="/ppt/notesSlides/notesSlide9.xml" Id="Ra272b5ff0f7b49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5be099baa6403d" /><Relationship Type="http://schemas.openxmlformats.org/officeDocument/2006/relationships/notesSlide" Target="/ppt/notesSlides/notesSlide10.xml" Id="R573f8a012e9149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5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037E48-E598-49B7-8BE6-FF3FE1E2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6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3343C-E1F4-4116-A1FF-9106F48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7E9E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7E9E5"/>
                </a:solidFill>
                <a:latin typeface="Aptos"/>
                <a:ea typeface="Aptos"/>
                <a:cs typeface="Aptos"/>
              </a:rPr>
              <a:t>实验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8CF869-8765-469C-8E68-37187BC7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752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神经网络语言模型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66694-F4F6-4E88-925D-E4D5D50D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9E7F3"/>
                </a:solidFill>
                <a:latin typeface="Aptos"/>
                <a:ea typeface="Aptos"/>
                <a:cs typeface="Aptos"/>
              </a:rPr>
              <a:t>基于 PTB 语料库的 LSTM 训练、评估与优化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883E6-5435-4E88-8D90-E0F7FB7D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2476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F33AA3-B577-4E18-A664-F8D06F5E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最终 Valid PPL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07CDD4-E976-43B9-9499-604FC201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rPr>
              <a:t>69.964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68802D-B073-40E5-B8EF-AD5A1DB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cached ensemble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DBFF4-5E5D-48DA-AE38-2B9919C0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90950"/>
            <a:ext cx="2476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BC66F-3052-4B10-9AEE-2D067E74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最终 Test PPL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50545-A1DE-4287-91F2-23A719B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481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rPr>
              <a:t>69.018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CD9C9-2E82-48B9-AF12-95B1F5F2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38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低于 80 要求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D80CC-A5D1-4892-877F-DA48DBBA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E7F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9E7F3"/>
                </a:solidFill>
                <a:latin typeface="Aptos"/>
                <a:ea typeface="Aptos"/>
                <a:cs typeface="Aptos"/>
              </a:rPr>
              <a:t>PyTorch · 2-layer LSTM · Ensemble · Neural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FA5F0-EF26-4064-A93B-0EB31CF7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321936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B1B89F-2087-4473-A99F-2D6F7F4A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实验任务与目标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4AF98-7EA8-4580-AD94-8D6B721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完成 PTB 上的神经网络语言模型训练与评估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288C2-702F-4AAD-8D6F-29186CCA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14134-C142-4543-845A-8E3E1226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FE8478-C91B-4818-A3D0-0C7BF6FC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3429000" cy="3810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0591D-B587-43CA-BDF5-E4413F44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90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实验要求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D9052-D8BE-4D97-B95E-A1AFEDE7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82AA4-C2AA-4A3A-B130-35E84F33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431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构建规范的 LSTM 网络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228EE-C95E-4C1A-B5D4-864CCF8C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48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51E4B-4279-4BCD-AD77-05BC2CCE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718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在 PTB 语料库训练与评估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C704F-73A6-4E22-8C2B-7BC45B3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F5158-C8A3-455D-9D74-0F33E0FD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004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评价指标为困惑度 PPL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41DF1D-6B0B-4D44-93F8-EE431CD8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2F6F1C-F5A8-43D3-AC98-C0410D26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目标：PPL 低于 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6EF9D1-9AA1-494E-81A5-9D60F20D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85900"/>
            <a:ext cx="6286500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8CF6C1-DEF3-4BAF-B8D8-FA104345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本实验解决方案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34DDB3-705D-4B9F-8B9C-C7A64CC8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67000"/>
            <a:ext cx="104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88197-3AEA-44A7-8BAB-70D286C9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67025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数据读取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C4E470-5EF2-444F-8A57-CEA806EB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9432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887"/>
          </a:solidFill>
          <a:ln xmlns:a="http://schemas.openxmlformats.org/drawingml/2006/main" w="0">
            <a:solidFill>
              <a:srgbClr val="22588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4D191-60CC-42E3-BD78-68714B0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67000"/>
            <a:ext cx="104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F6F4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D1B3BF-D459-4CEC-9278-FF36269D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67025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96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9691"/>
                </a:solidFill>
                <a:latin typeface="Aptos"/>
                <a:ea typeface="Aptos"/>
                <a:cs typeface="Aptos"/>
              </a:rPr>
              <a:t>词表构建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B73A8-7BCF-4801-8B26-E298726F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9432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887"/>
          </a:solidFill>
          <a:ln xmlns:a="http://schemas.openxmlformats.org/drawingml/2006/main" w="0">
            <a:solidFill>
              <a:srgbClr val="22588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E6A505-4F38-4786-8607-5D112E7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104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E40FBA-5CCB-4F88-BF93-653967DC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67025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LSTM 训练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7EC8B0-3265-4AEB-906F-C4052B41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9432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887"/>
          </a:solidFill>
          <a:ln xmlns:a="http://schemas.openxmlformats.org/drawingml/2006/main" w="0">
            <a:solidFill>
              <a:srgbClr val="22588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CCFF0-5F98-4AAC-9AD2-BDDB8A43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104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4F6F4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2ECC7-C762-4C9A-8A87-E91C325A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867025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96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9691"/>
                </a:solidFill>
                <a:latin typeface="Aptos"/>
                <a:ea typeface="Aptos"/>
                <a:cs typeface="Aptos"/>
              </a:rPr>
              <a:t>PPL 评估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A5699A-E85F-48CD-B95A-16D3A0DF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2943225"/>
            <a:ext cx="228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25887"/>
          </a:solidFill>
          <a:ln xmlns:a="http://schemas.openxmlformats.org/drawingml/2006/main" w="0">
            <a:solidFill>
              <a:srgbClr val="22588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1FA76C-10A3-4BC8-B6C9-79297328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67000"/>
            <a:ext cx="10477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AF8BB0-B040-43D2-B7C1-5BC49146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867025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优化对比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13D265-8A21-4A61-994B-4C9401BD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完整流程覆盖：编码、训练、调参、测试、结果可视化与报告整理。</a:t>
            </a:r>
          </a:p>
        </p:txBody>
      </p:sp>
    </p:spTree>
    <p:extLst>
      <p:ext uri="{BB962C8B-B14F-4D97-AF65-F5344CB8AC3E}">
        <p14:creationId xmlns:p14="http://schemas.microsoft.com/office/powerpoint/2010/main" val="8469154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B79511-B8B0-43A1-BEFC-C0EE1C62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数据集与预处理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663A8-EFE5-406C-B543-70C05A32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Penn Treebank 预处理语料，词表规模 10000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57BA0-28C5-4C38-A6E1-A3CADE2D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DD8309-8905-45C2-A11E-E3EA0181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DECC7-7D8E-404F-8443-884DAF5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FF597B-81F9-4547-901A-496EFEC1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B6830-F864-453F-BB82-BAB77BFF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588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5887"/>
                </a:solidFill>
                <a:latin typeface="Aptos Display"/>
                <a:ea typeface="Aptos Display"/>
                <a:cs typeface="Aptos Display"/>
              </a:rPr>
              <a:t>10000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56832-5561-4A25-9C07-92F0CABE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词表大小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EAAFC5-5A93-47DF-B938-068A3882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F23B3-9946-4B94-99CE-97473872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335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Train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A6E7F-A5AC-4C58-B0CC-682F0866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1930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rPr>
              <a:t>929589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0E11A-C686-42C6-8B0A-3D6522D8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训练集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6130B-9AC9-4C12-95B8-A7ED20BE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59372-DDA1-4F29-BD0F-E851B221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Valid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21F29-8E8B-4A37-963A-5B3FD2F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rPr>
              <a:t>73760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8FCFB2-410B-4EBD-BDE9-B1E08EC8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09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验证集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11564-1A57-4DB8-960F-476BA110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62100"/>
            <a:ext cx="2286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A3B68D-3380-4ED0-9184-132AC0DB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33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Test tokens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DF7C70-CD06-405C-9339-698F9D49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82430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30920-9B2A-4EDC-9CCD-4E5C2B52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98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测试集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7B34B-B65D-4668-A3CD-8FE322E5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14750"/>
            <a:ext cx="9810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D364C7-B468-4C58-9E92-ABD19740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预处理要点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A35295-08A7-4858-A802-91E43A46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291523-3968-4420-B93F-6F81C717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5770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用训练集建立词频词表，并按词频排序映射到整数 ID。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841A2-DE66-4633-BA81-554455A6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72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477FA9-8B49-4CE5-8CFB-EEC2DD1A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换行符转换为 &lt;eos&gt;，低频/未知词使用 &lt;unk&gt; 表示。</a:t>
            </a:r>
          </a:p>
        </p:txBody>
      </p:sp>
    </p:spTree>
    <p:extLst>
      <p:ext uri="{BB962C8B-B14F-4D97-AF65-F5344CB8AC3E}">
        <p14:creationId xmlns:p14="http://schemas.microsoft.com/office/powerpoint/2010/main" val="1715897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D26793-BF51-48DE-B278-AE69B36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模型结构设计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41B4D-6A57-4AF8-A9A9-73699EED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Embedding + 2 层 LSTM + Softmax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F556B-A4A9-4C60-9EC1-A3342502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C79E2-1DEF-4DBD-9292-C92F6BCA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cc1c289bc4ff2"/>
          <a:stretch xmlns:a="http://schemas.openxmlformats.org/drawingml/2006/main"/>
        </p:blipFill>
        <p:spPr>
          <a:xfrm xmlns:a="http://schemas.openxmlformats.org/drawingml/2006/main">
            <a:off x="1862667" y="1333500"/>
            <a:ext cx="846666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95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665BE6-44F4-4B2E-AFBD-1E464BB6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训练配置与评价指标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344D3C-6E58-44FB-9485-B1136F45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medium 配置用于正式训练，PPL 用于衡量语言模型质量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CF2B7E-8B2C-483E-BFAF-2B74A4C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099AE-ECED-467E-829D-1AFECC50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DC26D-FCDA-42EE-938D-BAE4F5C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0495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16CBF-71DE-400C-941F-B97AA53D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76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隐藏层/词向量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61C7CC-890B-4945-8D0C-42B0B14C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588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5887"/>
                </a:solidFill>
                <a:latin typeface="Aptos Display"/>
                <a:ea typeface="Aptos Display"/>
                <a:cs typeface="Aptos Display"/>
              </a:rPr>
              <a:t>650 / 650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87C9F-597C-45C8-B523-46DAFF65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0495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10ADE-6227-44B2-BF34-D59B52F2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76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LSTM 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11980-FAD9-4DC2-9D38-E5BD3996F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621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F7CD2-4797-4978-8FA2-9F026BC5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50495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D7EAC-CA48-4477-8DE9-2BCA589C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76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BPTT 步长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EBC96-A47D-4836-99A1-5F13ED2B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621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rPr>
              <a:t>35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8A2F13-0FE9-4219-B5E8-C667E8C7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9ABEF-4446-4912-BF67-EF4077DE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Batch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8629B-1E4F-4CF8-92D3-9458565C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A79F11-7E3C-42C8-BF75-03F82B01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8135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08870-BE77-412F-BC4C-175C8400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初始学习率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75876-2297-4CA3-BDA8-DC6681A9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38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588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5887"/>
                </a:solidFill>
                <a:latin typeface="Aptos Display"/>
                <a:ea typeface="Aptos Display"/>
                <a:cs typeface="Aptos Display"/>
              </a:rPr>
              <a:t>20.0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64C61-3E18-43D7-949B-79F0D3A0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81350"/>
            <a:ext cx="2857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9E8C1-D07B-4FC8-9221-3E68C19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Dropout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A63D3-ED68-4C11-BA5C-EC77DE00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385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1B48DD-362A-478B-9C6F-91A2DC58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9715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10F1E-EE7E-4F84-9014-E9FA4B41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1C26"/>
                </a:solidFill>
                <a:latin typeface="Aptos"/>
                <a:ea typeface="Aptos"/>
                <a:cs typeface="Aptos"/>
              </a:rPr>
              <a:t>PPL = exp(平均交叉熵)。PPL 越低，模型对下一个词的预测越准确。</a:t>
            </a:r>
          </a:p>
        </p:txBody>
      </p:sp>
    </p:spTree>
    <p:extLst>
      <p:ext uri="{BB962C8B-B14F-4D97-AF65-F5344CB8AC3E}">
        <p14:creationId xmlns:p14="http://schemas.microsoft.com/office/powerpoint/2010/main" val="11105604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E1ACE-9A89-4D53-911D-28B4E0FD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正式训练过程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76829-C02C-439A-8AD2-6E2A55CB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medium 配置 39 轮训练：训练集快速下降，验证集逐步收敛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8EA26-3EAE-49BB-8EAA-FB9F7C00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42410-9D7F-4A4E-9280-6DAA4967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0131ae0ab4edf"/>
          <a:stretch xmlns:a="http://schemas.openxmlformats.org/drawingml/2006/main"/>
        </p:blipFill>
        <p:spPr>
          <a:xfrm xmlns:a="http://schemas.openxmlformats.org/drawingml/2006/main">
            <a:off x="2379518" y="1257300"/>
            <a:ext cx="7204364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52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F64DD0-C548-4EDF-B7ED-4F785BA6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三种方案的 PPL 下降过程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F414A-80F2-4FBF-BC6A-6C1EADD2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单模型训练、概率集成、neural cache 调参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DCB84-7D1B-492B-A8F8-1893E9B7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75111-915E-4584-B9A2-888D83FE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9bdde4a13641c9"/>
          <a:stretch xmlns:a="http://schemas.openxmlformats.org/drawingml/2006/main"/>
        </p:blipFill>
        <p:spPr>
          <a:xfrm xmlns:a="http://schemas.openxmlformats.org/drawingml/2006/main">
            <a:off x="1638300" y="1200150"/>
            <a:ext cx="89154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925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87D919-723A-450F-BFF4-F4353068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实验结果对比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004C4-0EAB-45C3-AB9C-1A26A3B6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最终方案将 Valid/Test PPL 均降到 70 左右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32818-FCA5-42CC-85D9-C28E3F6F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B9CAF-DC5E-4C49-88DB-46910FFB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89be2004df4a08"/>
          <a:stretch xmlns:a="http://schemas.openxmlformats.org/drawingml/2006/main"/>
        </p:blipFill>
        <p:spPr>
          <a:xfrm xmlns:a="http://schemas.openxmlformats.org/drawingml/2006/main">
            <a:off x="666750" y="1272778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CDCBA-E4C8-49C9-A4D8-901BB1D3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A5B06-52B7-4414-B6ED-2A44B8F3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907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Valid 降幅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7E478-F533-4D6C-9137-D2BDFC6D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764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rPr>
              <a:t>-10.638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9C9FF-B1D4-4C6B-B149-DDFB8FFB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67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80.602 → 69.964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143F7-7800-4585-B4ED-B824E9A3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3812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40CF2-6AA5-482E-9B72-59C99742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528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Test 降幅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8A5BF7-73D6-48C2-A0C8-3002D58C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38575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rPr>
              <a:t>-8.728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3C6457-F71F-4508-AE89-9DE1C135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77.746 → 69.018</a:t>
            </a:r>
          </a:p>
        </p:txBody>
      </p:sp>
    </p:spTree>
    <p:extLst>
      <p:ext uri="{BB962C8B-B14F-4D97-AF65-F5344CB8AC3E}">
        <p14:creationId xmlns:p14="http://schemas.microsoft.com/office/powerpoint/2010/main" val="19386555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87FDC3-8B52-4A55-A3F9-DA1634C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关键优化方法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E5F16-D918-47ED-8CEA-D703B9FC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从训练正则化到评估阶段上下文自适应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E6A0E-6AB8-42BC-804B-35B3BAB6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1B147-6493-413D-9346-057B476E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A5D61-8148-4C2F-B646-C17E8057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92EC5-5EB4-457E-9BEF-EE9CD1E3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383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LockedDropout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FFB9D-2F8B-4FE9-AF00-1218B083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在时间维共享 dropout mask，提升序列模型正则化稳定性。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FE244-A6B7-46C6-982F-3CA69EA3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69545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4F6F4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A8E768-1F8D-452C-9114-BAFA72FF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969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9691"/>
                </a:solidFill>
                <a:latin typeface="Aptos"/>
                <a:ea typeface="Aptos"/>
                <a:cs typeface="Aptos"/>
              </a:rPr>
              <a:t>概率集成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7F432A-8777-49D2-8356-DE76A7CA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平均两个 checkpoint 的输出概率，降低单模型方差。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BE498-279E-4002-941D-2955D92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695450"/>
            <a:ext cx="2857500" cy="3143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9FAD1-CF7D-4B06-8241-20C267A4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3835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671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6712A"/>
                </a:solidFill>
                <a:latin typeface="Aptos"/>
                <a:ea typeface="Aptos"/>
                <a:cs typeface="Aptos"/>
              </a:rPr>
              <a:t>Neural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5E376-6ACF-4CA0-B599-6E8AE72B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用近期隐藏状态相似度给历史词补充概率，适配局部重复。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19129f58a64873"/>
          <a:stretch xmlns:a="http://schemas.openxmlformats.org/drawingml/2006/main"/>
        </p:blipFill>
        <p:spPr>
          <a:xfrm xmlns:a="http://schemas.openxmlformats.org/drawingml/2006/main">
            <a:off x="5084233" y="5048250"/>
            <a:ext cx="1947333" cy="1095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469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D6611D-6A93-4674-BDE0-F6342446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B2545"/>
                </a:solidFill>
                <a:latin typeface="Aptos Display"/>
                <a:ea typeface="Aptos Display"/>
                <a:cs typeface="Aptos Display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26BEE-7B33-4243-AF9A-1815DEAD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完成从训练到优化、可视化和报告整理的完整实验流程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6C1C94-63CE-476B-AF12-703427FB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实验 7 | PTB LSTM 语言模型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440AB-4DE2-4721-8F50-A9A09F38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389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58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258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674B1-13A6-44D2-8EE8-9BC3C4DB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857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D2F97-0540-4667-A985-BDA2FCF1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实验结论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4BEBD-C512-4BC4-B547-8B326236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BDFB4-D386-41BD-8549-113A73B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003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LSTM 能有效建模 PTB 词序列。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A4029-8D49-42EE-BC32-647FF30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C1D42-EF75-4F09-BA56-C23243EB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099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学习率衰减与梯度裁剪保证训练稳定。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0585F-BFE7-45E3-B31D-5480745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9691"/>
          </a:solidFill>
          <a:ln xmlns:a="http://schemas.openxmlformats.org/drawingml/2006/main" w="0">
            <a:solidFill>
              <a:srgbClr val="22969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C8B51-2D80-466A-BB4B-4FFCA24D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19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集成与 neural cache 显著降低 PPL。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E7C24-B122-4DBA-BAF1-3C81E0A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4476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E4F6F4"/>
          </a:solidFill>
          <a:ln xmlns:a="http://schemas.openxmlformats.org/drawingml/2006/main" w="9525">
            <a:solidFill>
              <a:srgbClr val="D8E1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04E534-1625-4A82-A011-6B3EEC68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969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9691"/>
                </a:solidFill>
                <a:latin typeface="Aptos"/>
                <a:ea typeface="Aptos"/>
                <a:cs typeface="Aptos"/>
              </a:rPr>
              <a:t>最终指标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7A9C8-C1A2-4337-8E58-956B9C80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Valid PPL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43CC0-BA69-4A43-8655-1AFD5633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229691"/>
                </a:solidFill>
                <a:latin typeface="Aptos Display"/>
                <a:ea typeface="Aptos Display"/>
                <a:cs typeface="Aptos Display"/>
              </a:rPr>
              <a:t>69.964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5F309-D46C-44D0-B979-48850506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F6874"/>
                </a:solidFill>
                <a:latin typeface="Aptos"/>
                <a:ea typeface="Aptos"/>
                <a:cs typeface="Aptos"/>
              </a:rPr>
              <a:t>Test PPL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CA4FC-745F-426A-AD60-E088D8A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D6712A"/>
                </a:solidFill>
                <a:latin typeface="Aptos Display"/>
                <a:ea typeface="Aptos Display"/>
                <a:cs typeface="Aptos Display"/>
              </a:rPr>
              <a:t>69.018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01413-FAB7-4279-9D11-7D27E6CD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676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1C26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1C26"/>
                </a:solidFill>
                <a:latin typeface="Aptos"/>
                <a:ea typeface="Aptos"/>
                <a:cs typeface="Aptos"/>
              </a:rPr>
              <a:t>交付物：实验报告、Python 源码、PTB 数据和模型 checkpoint。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8CAED6-F6AA-4C1D-A4F9-146D8A34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87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874"/>
                </a:solidFill>
                <a:latin typeface="Aptos"/>
                <a:ea typeface="Aptos"/>
                <a:cs typeface="Aptos"/>
              </a:rPr>
              <a:t>参考：Salesforce AWD-LSTM；PyTorch word_language_model</a:t>
            </a:r>
          </a:p>
        </p:txBody>
      </p:sp>
    </p:spTree>
    <p:extLst>
      <p:ext uri="{BB962C8B-B14F-4D97-AF65-F5344CB8AC3E}">
        <p14:creationId xmlns:p14="http://schemas.microsoft.com/office/powerpoint/2010/main" val="6008815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2026-06-18T11:53:32.6370000Z</dcterms:created>
  <dcterms:modified xsi:type="dcterms:W3CDTF">2026-06-18T11:53:32.6370000Z</dcterms:modified>
</coreProperties>
</file>