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67"/>
  </p:normalViewPr>
  <p:slideViewPr>
    <p:cSldViewPr snapToGrid="0">
      <p:cViewPr varScale="1">
        <p:scale>
          <a:sx n="145" d="100"/>
          <a:sy n="145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87F19-C34F-C526-6686-4882E395D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93E863-B391-4EC1-2EEB-7A5CA5B7A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FE211-DADE-A574-14DE-473D60F2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3FDE0-3815-B4C1-F64E-FB380560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79B62B-7FED-937F-C270-3EA118B3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5472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85498-84D5-42A7-6BC6-B1A1E508E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56DB46-5553-F9EB-EFBD-E07E2B7C5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9F0E8C-9EBF-BEE7-B26B-D1A82BCE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DEDF0-9068-A32B-D4A0-8A4F0146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F071E8-8235-5C3E-EC86-C0BAA1A8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875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E8C46-22A3-F5B2-9357-A4BA3E10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26C9B8-14F1-0F7B-C6A9-68AD76387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049CA7-BE79-8825-15BB-221C1F0C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57B961-BAD7-C9F6-5CF2-175576A5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8844C-4627-5A4A-6375-9C571A2D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294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4F17A-4B7A-9699-512D-FE128DBE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1EFF6-7316-6AC9-E5B7-E325BD8B3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65F52-4078-53AD-19CE-39B864F09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66B0F-8B6C-F16F-B0FD-2AC28893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2330ED-4177-BC1B-8C2C-E55CD52E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54864A-DFC4-DFD2-63D2-73965AC6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092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27FF1-FF40-E89E-E23F-43724433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45484-C141-DA61-DDC4-D44BAFDA1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FDCF9A-48C0-0691-236A-2CE46C918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324539-7F8A-7D2F-6583-E75C56573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72B49C-2683-DFD2-8833-656C8FC68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F7125E-12D4-9A13-32A3-E6B7A02A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E7F8A4-C854-C1C8-2393-29049272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221A05-A3CE-36F3-28F2-F9F0BE4C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553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436DC-43D3-89EF-26B8-57C94517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34305B-6E5B-4E79-4A2D-9760D99C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EC807F-1820-C695-EA6D-8AFE1394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859EDE-77E2-5ACC-7D8C-4A8B31EC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726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C99C24-466C-65B5-FCE7-E6D83EF6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E09F75-4833-9467-99DE-B234A346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AD7EED-91A7-6476-F8DB-7ED0E695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29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92E4D-7755-ECB9-B0EE-56D399DA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249AE-CA22-4308-55B6-4A04FBE56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6B28E6-0E97-46E1-8DD4-78189DFED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C1E67-6D68-5888-F1B8-E9F3971D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A919C1-85AF-2599-D82B-DF5DE4EA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D7D0D5-0FAD-F61A-E89B-697A8842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544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312FC-0415-BE79-848E-617E7760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F492C9-B4F7-81CF-73CB-014C19512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C31993-2F9D-DD94-12FC-A5D4205F4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D2B3C-8DFE-80A5-1F5D-1F3BA5A5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1A7E45-ADAC-76BA-65D8-0ECDA535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6D65C-ACB4-B2A5-D19C-F440E940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129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C17EB-117C-797C-6844-5881F3D4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7ED9B5-D16D-E0D2-47C6-0F1B97CC4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4DC14-D858-A594-0673-8DC5DDB7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E890E8-C6C5-57A6-22CC-B26E6A4A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90F766-D00C-0186-AC3E-19677F7D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048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384E3A-E2F3-5244-CB8A-51A3906E3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2793F9-C0D4-0B80-8F1D-2C9B8F58F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8D9E51-452E-A0B2-08FA-9D2B0A32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037B6-C310-9C0B-C28F-CFC82B51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D3B47-47A0-E084-A8AD-A5237E3E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754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07E057-C286-D8EF-0F4E-A8252A3E7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098AAD-1F49-982E-F591-E3E95E0C2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89195-558C-BC28-BF11-42B493A93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DDDE-E37A-9641-B9B9-287E75F86C53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7E8234-EE22-72DE-748C-7D3847D69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3BED8-7A89-549A-010B-28F5997BF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56E80-D279-7B42-A054-0E5EF1A112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934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inhanzhongjiu/UCAS_DeepLearning_2026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61029-4768-FC96-3E88-92BF95A11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实验八：基于 CNN-Transformer 的图像描述生成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2A7A84-7CC8-05ED-EB5B-CABC62503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小组成员：朱立景、徐康晴、吕正大</a:t>
            </a:r>
          </a:p>
          <a:p>
            <a:r>
              <a:rPr lang="zh-CN" altLang="zh-CN" dirty="0"/>
              <a:t>实验代码仓库：</a:t>
            </a:r>
            <a:r>
              <a:rPr lang="zh-CN" altLang="zh-CN" u="sng" dirty="0">
                <a:hlinkClick r:id="rId2"/>
              </a:rPr>
              <a:t>https://github.com/xinhanzhongjiu/UCAS_DeepLearning_2026</a:t>
            </a:r>
            <a:endParaRPr lang="zh-C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84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143A8-0D29-2FAF-F945-DE5E2F29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F45F4-CBF8-2BF1-696E-63A3FD5BB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b="1" dirty="0"/>
              <a:t>任务目标</a:t>
            </a:r>
            <a:r>
              <a:rPr lang="zh-CN" altLang="en-US" sz="2400" b="1" dirty="0"/>
              <a:t>：</a:t>
            </a:r>
            <a:r>
              <a:rPr lang="zh-CN" altLang="zh-CN" sz="2400" dirty="0"/>
              <a:t>本实验实现 </a:t>
            </a:r>
            <a:r>
              <a:rPr lang="zh-CN" altLang="zh-CN" sz="2400" b="1" dirty="0"/>
              <a:t>图像描述（Image Captioning）</a:t>
            </a:r>
            <a:r>
              <a:rPr lang="zh-CN" altLang="zh-CN" sz="2400" dirty="0"/>
              <a:t> 任务：给定一张自然图像，模型自动生成一句与图像内容相关的英文描述。核心难点在于同时理解视觉语义与语言结构，并将二者对齐到统一的序列生成框架中。</a:t>
            </a:r>
          </a:p>
          <a:p>
            <a:r>
              <a:rPr lang="zh-CN" altLang="zh-CN" sz="2400" b="1" dirty="0"/>
              <a:t>解决方案概览</a:t>
            </a:r>
            <a:r>
              <a:rPr lang="zh-CN" altLang="en-US" sz="2400" b="1" dirty="0"/>
              <a:t>：</a:t>
            </a:r>
            <a:endParaRPr lang="zh-CN" altLang="zh-CN" sz="2400" b="1" dirty="0"/>
          </a:p>
          <a:p>
            <a:pPr lvl="1"/>
            <a:r>
              <a:rPr lang="zh-CN" altLang="zh-CN" sz="2000" dirty="0"/>
              <a:t>本实验采用 </a:t>
            </a:r>
            <a:r>
              <a:rPr lang="zh-CN" altLang="zh-CN" sz="2000" b="1" dirty="0"/>
              <a:t>CNN + Transformer Encoder-Decoder</a:t>
            </a:r>
            <a:r>
              <a:rPr lang="zh-CN" altLang="zh-CN" sz="2000" dirty="0"/>
              <a:t> 架构：</a:t>
            </a:r>
          </a:p>
          <a:p>
            <a:pPr lvl="1"/>
            <a:r>
              <a:rPr lang="zh-CN" altLang="zh-CN" sz="2000" b="1" dirty="0"/>
              <a:t>ResNet50</a:t>
            </a:r>
            <a:r>
              <a:rPr lang="zh-CN" altLang="zh-CN" sz="2000" dirty="0"/>
              <a:t> 提取 7×7 空间视觉特征；</a:t>
            </a:r>
          </a:p>
          <a:p>
            <a:pPr lvl="1"/>
            <a:r>
              <a:rPr lang="zh-CN" altLang="zh-CN" sz="2000" b="1" dirty="0"/>
              <a:t>Transformer Encoder</a:t>
            </a:r>
            <a:r>
              <a:rPr lang="zh-CN" altLang="zh-CN" sz="2000" dirty="0"/>
              <a:t> 建模区域间关系，得到视觉 memory；</a:t>
            </a:r>
          </a:p>
          <a:p>
            <a:pPr lvl="1"/>
            <a:r>
              <a:rPr lang="zh-CN" altLang="zh-CN" sz="2000" b="1" dirty="0"/>
              <a:t>Transformer Decoder</a:t>
            </a:r>
            <a:r>
              <a:rPr lang="zh-CN" altLang="zh-CN" sz="2000" dirty="0"/>
              <a:t> 在 cross-attention 条件下自回归生成字幕；</a:t>
            </a:r>
          </a:p>
          <a:p>
            <a:pPr lvl="1"/>
            <a:r>
              <a:rPr lang="zh-CN" altLang="zh-CN" sz="2000" dirty="0"/>
              <a:t>训练目标为 </a:t>
            </a:r>
            <a:r>
              <a:rPr lang="zh-CN" altLang="zh-CN" sz="2000" b="1" dirty="0"/>
              <a:t>交叉熵损失</a:t>
            </a:r>
            <a:r>
              <a:rPr lang="zh-CN" altLang="zh-CN" sz="2000" dirty="0"/>
              <a:t>（Teacher Forcing）；</a:t>
            </a:r>
          </a:p>
          <a:p>
            <a:pPr lvl="1"/>
            <a:r>
              <a:rPr lang="zh-CN" altLang="zh-CN" sz="2000" dirty="0"/>
              <a:t>另实现 </a:t>
            </a:r>
            <a:r>
              <a:rPr lang="zh-CN" altLang="zh-CN" sz="2000" b="1" dirty="0"/>
              <a:t>CNN + LSTM</a:t>
            </a:r>
            <a:r>
              <a:rPr lang="zh-CN" altLang="zh-CN" sz="2000" dirty="0"/>
              <a:t> 基线，在相同数据划分下对比。</a:t>
            </a:r>
          </a:p>
        </p:txBody>
      </p:sp>
    </p:spTree>
    <p:extLst>
      <p:ext uri="{BB962C8B-B14F-4D97-AF65-F5344CB8AC3E}">
        <p14:creationId xmlns:p14="http://schemas.microsoft.com/office/powerpoint/2010/main" val="130764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5AC2E-040B-8677-4681-A828B96A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数据集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CF058-0641-B5C8-E879-716768E1F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实验使用 </a:t>
            </a:r>
            <a:r>
              <a:rPr lang="zh-CN" altLang="zh-CN" b="1" dirty="0"/>
              <a:t>MSCOCO 2017</a:t>
            </a:r>
            <a:r>
              <a:rPr lang="zh-CN" altLang="zh-CN" dirty="0"/>
              <a:t> 字幕子集：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AC0E7FE-E1E6-EAD8-C68F-1427840CA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497129"/>
              </p:ext>
            </p:extLst>
          </p:nvPr>
        </p:nvGraphicFramePr>
        <p:xfrm>
          <a:off x="1504950" y="2661432"/>
          <a:ext cx="9182100" cy="1851660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381899088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1704071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项目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8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8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说明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A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51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图像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train2017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，共 </a:t>
                      </a: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118,287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张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894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标注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captions_train2017.json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，每张图约 5 条英文描述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8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划分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按 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image_id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随机划分 </a:t>
                      </a: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80% / 10% / 10%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（train / val / test），</a:t>
                      </a: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seed=42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985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预处理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Resize 至 224×224，ImageNet 均值方差归一化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08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测试集规模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val </a:t>
                      </a:r>
                      <a:r>
                        <a:rPr lang="zh-CN" sz="12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11,828</a:t>
                      </a: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张，test </a:t>
                      </a:r>
                      <a:r>
                        <a:rPr lang="zh-CN" sz="12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11,830</a:t>
                      </a: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张（见 </a:t>
                      </a: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results/metrics_*.json</a:t>
                      </a: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191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58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6B904-CD03-F739-88A9-4B2CEF84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整体架构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8D655-48A0-29CA-3670-60915BEC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图像 </a:t>
            </a:r>
            <a:r>
              <a:rPr kumimoji="1" lang="en-US" altLang="zh-CN" dirty="0"/>
              <a:t>(3×224×224)</a:t>
            </a:r>
          </a:p>
          <a:p>
            <a:pPr lvl="1"/>
            <a:r>
              <a:rPr kumimoji="1" lang="en-US" altLang="zh-CN" dirty="0"/>
              <a:t>  → </a:t>
            </a:r>
            <a:r>
              <a:rPr kumimoji="1" lang="en" altLang="zh-CN" dirty="0"/>
              <a:t>ResNet50</a:t>
            </a:r>
            <a:r>
              <a:rPr kumimoji="1" lang="zh-CN" altLang="en" dirty="0"/>
              <a:t>（</a:t>
            </a:r>
            <a:r>
              <a:rPr kumimoji="1" lang="en" altLang="zh-CN" dirty="0"/>
              <a:t>layer4 </a:t>
            </a:r>
            <a:r>
              <a:rPr kumimoji="1" lang="zh-CN" altLang="en-US" dirty="0"/>
              <a:t>输出 </a:t>
            </a:r>
            <a:r>
              <a:rPr kumimoji="1" lang="en-US" altLang="zh-CN" dirty="0"/>
              <a:t>7×7×2048</a:t>
            </a:r>
            <a:r>
              <a:rPr kumimoji="1" lang="zh-CN" altLang="en-US" dirty="0"/>
              <a:t>）</a:t>
            </a:r>
          </a:p>
          <a:p>
            <a:pPr lvl="1"/>
            <a:r>
              <a:rPr kumimoji="1" lang="zh-CN" altLang="en-US" dirty="0"/>
              <a:t>  → 展平为 </a:t>
            </a:r>
            <a:r>
              <a:rPr kumimoji="1" lang="en-US" altLang="zh-CN" dirty="0"/>
              <a:t>49 </a:t>
            </a:r>
            <a:r>
              <a:rPr kumimoji="1" lang="zh-CN" altLang="en-US" dirty="0"/>
              <a:t>个视觉 </a:t>
            </a:r>
            <a:r>
              <a:rPr kumimoji="1" lang="en" altLang="zh-CN" dirty="0"/>
              <a:t>token + Linear </a:t>
            </a:r>
            <a:r>
              <a:rPr kumimoji="1" lang="zh-CN" altLang="en-US" dirty="0"/>
              <a:t>投影 </a:t>
            </a:r>
            <a:r>
              <a:rPr kumimoji="1" lang="en-US" altLang="zh-CN" dirty="0"/>
              <a:t>+ 2</a:t>
            </a:r>
            <a:r>
              <a:rPr kumimoji="1" lang="en" altLang="zh-CN" dirty="0"/>
              <a:t>D </a:t>
            </a:r>
            <a:r>
              <a:rPr kumimoji="1" lang="zh-CN" altLang="en-US" dirty="0"/>
              <a:t>可学习位置编码</a:t>
            </a:r>
          </a:p>
          <a:p>
            <a:pPr lvl="1"/>
            <a:r>
              <a:rPr kumimoji="1" lang="zh-CN" altLang="en-US" dirty="0"/>
              <a:t>  → </a:t>
            </a:r>
            <a:r>
              <a:rPr kumimoji="1" lang="en" altLang="zh-CN" dirty="0"/>
              <a:t>Transformer Encoder</a:t>
            </a:r>
            <a:r>
              <a:rPr kumimoji="1" lang="zh-CN" altLang="en" dirty="0"/>
              <a:t>（</a:t>
            </a:r>
            <a:r>
              <a:rPr kumimoji="1" lang="en" altLang="zh-CN" dirty="0"/>
              <a:t>3 </a:t>
            </a:r>
            <a:r>
              <a:rPr kumimoji="1" lang="zh-CN" altLang="en-US" dirty="0"/>
              <a:t>层）</a:t>
            </a:r>
          </a:p>
          <a:p>
            <a:pPr lvl="1"/>
            <a:r>
              <a:rPr kumimoji="1" lang="zh-CN" altLang="en-US" dirty="0"/>
              <a:t>  → </a:t>
            </a:r>
            <a:r>
              <a:rPr kumimoji="1" lang="en" altLang="zh-CN" dirty="0"/>
              <a:t>Memory (49×512)</a:t>
            </a:r>
          </a:p>
          <a:p>
            <a:r>
              <a:rPr kumimoji="1" lang="zh-CN" altLang="en-US" dirty="0"/>
              <a:t>字幕 </a:t>
            </a:r>
            <a:r>
              <a:rPr kumimoji="1" lang="en" altLang="zh-CN" dirty="0"/>
              <a:t>token</a:t>
            </a:r>
            <a:r>
              <a:rPr kumimoji="1" lang="zh-CN" altLang="en" dirty="0"/>
              <a:t>（</a:t>
            </a:r>
            <a:r>
              <a:rPr kumimoji="1" lang="en" altLang="zh-CN" dirty="0"/>
              <a:t>Teacher Forcing</a:t>
            </a:r>
            <a:r>
              <a:rPr kumimoji="1" lang="zh-CN" altLang="en" dirty="0"/>
              <a:t>）</a:t>
            </a:r>
          </a:p>
          <a:p>
            <a:pPr lvl="1"/>
            <a:r>
              <a:rPr kumimoji="1" lang="zh-CN" altLang="en" dirty="0"/>
              <a:t>  → </a:t>
            </a:r>
            <a:r>
              <a:rPr kumimoji="1" lang="en" altLang="zh-CN" dirty="0"/>
              <a:t>Embedding + </a:t>
            </a:r>
            <a:r>
              <a:rPr kumimoji="1" lang="zh-CN" altLang="en-US" dirty="0"/>
              <a:t>正弦位置编码</a:t>
            </a:r>
          </a:p>
          <a:p>
            <a:pPr lvl="1"/>
            <a:r>
              <a:rPr kumimoji="1" lang="zh-CN" altLang="en-US" dirty="0"/>
              <a:t>  → </a:t>
            </a:r>
            <a:r>
              <a:rPr kumimoji="1" lang="en" altLang="zh-CN" dirty="0"/>
              <a:t>Transformer Decoder</a:t>
            </a:r>
            <a:r>
              <a:rPr kumimoji="1" lang="zh-CN" altLang="en" dirty="0"/>
              <a:t>（</a:t>
            </a:r>
            <a:r>
              <a:rPr kumimoji="1" lang="en" altLang="zh-CN" dirty="0"/>
              <a:t>3 </a:t>
            </a:r>
            <a:r>
              <a:rPr kumimoji="1" lang="zh-CN" altLang="en-US" dirty="0"/>
              <a:t>层，含 </a:t>
            </a:r>
            <a:r>
              <a:rPr kumimoji="1" lang="en" altLang="zh-CN" dirty="0"/>
              <a:t>cross-attention</a:t>
            </a:r>
            <a:r>
              <a:rPr kumimoji="1" lang="zh-CN" altLang="en" dirty="0"/>
              <a:t>）</a:t>
            </a:r>
          </a:p>
          <a:p>
            <a:pPr lvl="1"/>
            <a:r>
              <a:rPr kumimoji="1" lang="zh-CN" altLang="en" dirty="0"/>
              <a:t>  → </a:t>
            </a:r>
            <a:r>
              <a:rPr kumimoji="1" lang="en" altLang="zh-CN" dirty="0"/>
              <a:t>Linear → </a:t>
            </a:r>
            <a:r>
              <a:rPr kumimoji="1" lang="zh-CN" altLang="en-US" dirty="0"/>
              <a:t>词表 </a:t>
            </a:r>
            <a:r>
              <a:rPr kumimoji="1" lang="en" altLang="zh-CN" dirty="0"/>
              <a:t>logits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85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76701-9F4E-4389-0C77-9B7D8C37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网络结构设计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76797-A272-8048-9EF3-781D9655C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CNN 视觉编码器</a:t>
            </a:r>
          </a:p>
          <a:p>
            <a:pPr marL="457200" lvl="1" indent="0">
              <a:buNone/>
            </a:pPr>
            <a:r>
              <a:rPr lang="zh-CN" altLang="zh-CN" sz="1800" dirty="0"/>
              <a:t>使用 ImageNet 预训练 </a:t>
            </a:r>
            <a:r>
              <a:rPr lang="zh-CN" altLang="zh-CN" sz="1800" b="1" dirty="0"/>
              <a:t>ResNet50</a:t>
            </a:r>
            <a:r>
              <a:rPr lang="zh-CN" altLang="zh-CN" sz="1800" dirty="0"/>
              <a:t>，去掉全局池化与全连接层，保留 layer4 输出的 </a:t>
            </a:r>
            <a:r>
              <a:rPr lang="zh-CN" altLang="zh-CN" sz="1800" b="1" dirty="0"/>
              <a:t>7×7 空间特征图</a:t>
            </a:r>
            <a:r>
              <a:rPr lang="zh-CN" altLang="zh-CN" sz="1800" dirty="0"/>
              <a:t>，再 reshape 为 49 个区域 token。为降低过拟合与显存压力，冻结 conv1 至 layer3，仅微调 layer4 及后续模块。</a:t>
            </a:r>
            <a:endParaRPr lang="en-US" altLang="zh-CN" sz="1800" dirty="0"/>
          </a:p>
          <a:p>
            <a:r>
              <a:rPr lang="zh-CN" altLang="zh-CN" sz="2000" dirty="0"/>
              <a:t>2D 可学习位置编码（创新点 ①）</a:t>
            </a:r>
          </a:p>
          <a:p>
            <a:pPr marL="457200" lvl="1" indent="0">
              <a:buNone/>
            </a:pPr>
            <a:r>
              <a:rPr lang="zh-CN" altLang="zh-CN" sz="1800" dirty="0"/>
              <a:t>不同于将 CNN 特征全局池化为一向量，本实验 </a:t>
            </a:r>
            <a:r>
              <a:rPr lang="zh-CN" altLang="zh-CN" sz="1800" b="1" dirty="0"/>
              <a:t>保留空间结构</a:t>
            </a:r>
            <a:r>
              <a:rPr lang="zh-CN" altLang="zh-CN" sz="1800" dirty="0"/>
              <a:t>，并为 7×7 网格引入 </a:t>
            </a:r>
            <a:r>
              <a:rPr lang="zh-CN" altLang="zh-CN" sz="1800" b="1" dirty="0"/>
              <a:t>可学习 2D 位置编码</a:t>
            </a:r>
            <a:r>
              <a:rPr lang="zh-CN" altLang="zh-CN" sz="1800" dirty="0"/>
              <a:t> LearnablePositionalEncoding2D，使 Decoder 的 cross-attention 能关注到具体图像区域。</a:t>
            </a:r>
            <a:endParaRPr lang="en-US" altLang="zh-CN" sz="1800" dirty="0"/>
          </a:p>
          <a:p>
            <a:r>
              <a:rPr lang="zh-CN" altLang="zh-CN" sz="2000" dirty="0"/>
              <a:t>Transformer Encoder-Decoder</a:t>
            </a:r>
          </a:p>
          <a:p>
            <a:pPr marL="457200" lvl="1" indent="0">
              <a:buNone/>
            </a:pPr>
            <a:r>
              <a:rPr lang="zh-CN" altLang="zh-CN" sz="1800" dirty="0"/>
              <a:t>文本侧使用 </a:t>
            </a:r>
            <a:r>
              <a:rPr lang="zh-CN" altLang="zh-CN" sz="1800" b="1" dirty="0"/>
              <a:t>Embedding + 正弦位置编码</a:t>
            </a:r>
            <a:r>
              <a:rPr lang="zh-CN" altLang="zh-CN" sz="1800" dirty="0"/>
              <a:t>；Decoder 采用因果 mask 做自回归建模，并通过 </a:t>
            </a:r>
            <a:r>
              <a:rPr lang="zh-CN" altLang="zh-CN" sz="1800" b="1" dirty="0"/>
              <a:t>multi-head cross-attention</a:t>
            </a:r>
            <a:r>
              <a:rPr lang="zh-CN" altLang="zh-CN" sz="1800" dirty="0"/>
              <a:t> 读取视觉 memory。</a:t>
            </a:r>
            <a:endParaRPr lang="en-US" altLang="zh-CN" sz="1800" dirty="0"/>
          </a:p>
          <a:p>
            <a:r>
              <a:rPr lang="zh-CN" altLang="zh-CN" sz="2000" dirty="0"/>
              <a:t>LSTM 基线（model_baseline.py）</a:t>
            </a:r>
          </a:p>
          <a:p>
            <a:pPr marL="457200" lvl="1" indent="0">
              <a:buNone/>
            </a:pPr>
            <a:r>
              <a:rPr lang="zh-CN" altLang="zh-CN" sz="1800" dirty="0"/>
              <a:t>为公平对比，基线使用 </a:t>
            </a:r>
            <a:r>
              <a:rPr lang="zh-CN" altLang="zh-CN" sz="1800" b="1" dirty="0"/>
              <a:t>同一 ResNet50 特征</a:t>
            </a:r>
            <a:r>
              <a:rPr lang="zh-CN" altLang="zh-CN" sz="1800" dirty="0"/>
              <a:t>，对 49 个 token 做 </a:t>
            </a:r>
            <a:r>
              <a:rPr lang="zh-CN" altLang="zh-CN" sz="1800" b="1" dirty="0"/>
              <a:t>全局平均池化</a:t>
            </a:r>
            <a:r>
              <a:rPr lang="zh-CN" altLang="zh-CN" sz="1800" dirty="0"/>
              <a:t> 得到图像向量，再输入 </a:t>
            </a:r>
            <a:r>
              <a:rPr lang="zh-CN" altLang="zh-CN" sz="1800" b="1" dirty="0"/>
              <a:t>单层 LSTM</a:t>
            </a:r>
            <a:r>
              <a:rPr lang="zh-CN" altLang="zh-CN" sz="1800" dirty="0"/>
              <a:t> 解码。除解码器外，CNN 与训练配置保持一致。</a:t>
            </a:r>
            <a:endParaRPr lang="zh-CN" altLang="zh-CN" sz="2000" dirty="0"/>
          </a:p>
          <a:p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9588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0FB70-AA27-B412-D516-DE37285B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数据处理与词表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2C45C8-D3D6-A029-824F-74A115A2B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图像：Resize(224,224) → ToTensor() → Normalize(ImageNet mean/std)</a:t>
            </a:r>
          </a:p>
          <a:p>
            <a:r>
              <a:rPr lang="zh-CN" altLang="zh-CN" dirty="0"/>
              <a:t>训练时：每张图 </a:t>
            </a:r>
            <a:r>
              <a:rPr lang="zh-CN" altLang="zh-CN" b="1" dirty="0"/>
              <a:t>随机采样 1 条</a:t>
            </a:r>
            <a:r>
              <a:rPr lang="zh-CN" altLang="zh-CN" dirty="0"/>
              <a:t> caption</a:t>
            </a:r>
          </a:p>
          <a:p>
            <a:r>
              <a:rPr lang="zh-CN" altLang="zh-CN" dirty="0"/>
              <a:t>评测时：每张图保留 </a:t>
            </a:r>
            <a:r>
              <a:rPr lang="zh-CN" altLang="zh-CN" b="1" dirty="0"/>
              <a:t>全部 5 条</a:t>
            </a:r>
            <a:r>
              <a:rPr lang="zh-CN" altLang="zh-CN" dirty="0"/>
              <a:t> reference，指标取 max-over-references（COCO 标准做法）</a:t>
            </a:r>
          </a:p>
          <a:p>
            <a:r>
              <a:rPr lang="zh-CN" altLang="zh-CN" dirty="0"/>
              <a:t>分词：优先 bert-base-uncased；网络不可达时从 COCO 词频构建本地 CaptionTokenizer（创新点 ②：离线词表回退）</a:t>
            </a:r>
          </a:p>
        </p:txBody>
      </p:sp>
    </p:spTree>
    <p:extLst>
      <p:ext uri="{BB962C8B-B14F-4D97-AF65-F5344CB8AC3E}">
        <p14:creationId xmlns:p14="http://schemas.microsoft.com/office/powerpoint/2010/main" val="173981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8BFA9-9399-FE64-A706-B9938915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损失函数</a:t>
            </a:r>
            <a:r>
              <a:rPr lang="zh-CN" altLang="en-US" b="1" dirty="0"/>
              <a:t>与优化器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E45633-763F-32C5-DAED-4C61A93A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  <a:r>
              <a:rPr lang="zh-CN" altLang="zh-CN" dirty="0"/>
              <a:t>采用 </a:t>
            </a:r>
            <a:r>
              <a:rPr lang="zh-CN" altLang="zh-CN" b="1" dirty="0"/>
              <a:t>Token 级交叉熵损失</a:t>
            </a:r>
            <a:r>
              <a:rPr lang="zh-CN" altLang="zh-CN" dirty="0"/>
              <a:t>，对 padding 位置忽略：</a:t>
            </a:r>
            <a:endParaRPr lang="en-US" altLang="zh-CN" dirty="0"/>
          </a:p>
          <a:p>
            <a:pPr lvl="1"/>
            <a:r>
              <a:rPr lang="zh-CN" altLang="zh-CN" dirty="0"/>
              <a:t>输入 caption 为 [CLS] w1 w2 ... [SEP]</a:t>
            </a:r>
          </a:p>
          <a:p>
            <a:pPr lvl="1"/>
            <a:r>
              <a:rPr lang="zh-CN" altLang="zh-CN" dirty="0"/>
              <a:t>模型预测 w1, w2, ..., [SEP]</a:t>
            </a:r>
          </a:p>
          <a:p>
            <a:pPr lvl="1"/>
            <a:r>
              <a:rPr lang="zh-CN" altLang="zh-CN" dirty="0"/>
              <a:t>未使用强化学习（SCST）或 CIDEr 直接优化，以保证训练稳定</a:t>
            </a:r>
          </a:p>
          <a:p>
            <a:r>
              <a:rPr lang="zh-CN" altLang="zh-CN" dirty="0"/>
              <a:t>优化器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F436ECA-D395-140E-9F1D-CACAD4118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927462"/>
              </p:ext>
            </p:extLst>
          </p:nvPr>
        </p:nvGraphicFramePr>
        <p:xfrm>
          <a:off x="1504950" y="4001294"/>
          <a:ext cx="9182100" cy="2777490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92918685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337249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配置项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1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0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1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取值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800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0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0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56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优化器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AdamW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944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学习率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531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Weight decay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3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梯度裁剪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12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Batch size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070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Epochs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3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混合精度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AMP（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use_amp: true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05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模型选择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验证集 loss 最低 → 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checkpoints/best.pt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923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78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42FD2-8F5C-3D36-33BA-27E183CF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其他工程改进（创新点 ③④）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9E778-60C2-A2AD-CACD-293CBFBA6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METEOR 分块评测</a:t>
            </a:r>
            <a:r>
              <a:rPr lang="zh-CN" altLang="zh-CN" dirty="0"/>
              <a:t>：全量 1.1 万+ 样本一次性调用 meteor.jar 易协议错位，采用 meteor_chunk_size=256 分批计算，失败时回退 NLTK METEOR。</a:t>
            </a:r>
          </a:p>
          <a:p>
            <a:r>
              <a:rPr lang="zh-CN" altLang="zh-CN" b="1" dirty="0"/>
              <a:t>Cross-Attention 可视化</a:t>
            </a:r>
            <a:r>
              <a:rPr lang="zh-CN" altLang="zh-CN" dirty="0"/>
              <a:t>：在最后一层 Decoder 显式调用 multihead_attn(..., need_weights=True) 提取 7×7 注意力，上采样叠加至原图，便于分析模型“看哪里、说什么”。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2915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7C1C9-78C0-98E3-E534-05BE6C46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实验分析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0790C-8990-B89F-C913-D3A034200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752"/>
          </a:xfrm>
        </p:spPr>
        <p:txBody>
          <a:bodyPr/>
          <a:lstStyle/>
          <a:p>
            <a:r>
              <a:rPr lang="zh-CN" altLang="zh-CN" dirty="0"/>
              <a:t>CNN-Transformer 在 val / test 上的指标</a:t>
            </a:r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C2FE705-17E2-3F95-A465-9FFCF1346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80113"/>
              </p:ext>
            </p:extLst>
          </p:nvPr>
        </p:nvGraphicFramePr>
        <p:xfrm>
          <a:off x="1504948" y="2503170"/>
          <a:ext cx="9182103" cy="925830"/>
        </p:xfrm>
        <a:graphic>
          <a:graphicData uri="http://schemas.openxmlformats.org/drawingml/2006/table">
            <a:tbl>
              <a:tblPr/>
              <a:tblGrid>
                <a:gridCol w="1311729">
                  <a:extLst>
                    <a:ext uri="{9D8B030D-6E8A-4147-A177-3AD203B41FA5}">
                      <a16:colId xmlns:a16="http://schemas.microsoft.com/office/drawing/2014/main" val="2361335120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3199233466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1103027295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1261769201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72985789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1672960319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1423042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划分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C0A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8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A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BLEU-1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8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8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BLEU-4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A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A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CIDEr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C0A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8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A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METEOR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8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8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ROUGE-L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A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9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样本数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9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9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9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2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val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0.6599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0.2496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0.7577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0.2654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0.4515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11,828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3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test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0.6561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0.2465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0.7487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0.2633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0.4490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11,830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034856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EF84374-F938-DFE8-E68E-A32160C11607}"/>
              </a:ext>
            </a:extLst>
          </p:cNvPr>
          <p:cNvSpPr txBox="1">
            <a:spLocks/>
          </p:cNvSpPr>
          <p:nvPr/>
        </p:nvSpPr>
        <p:spPr>
          <a:xfrm>
            <a:off x="838200" y="3619793"/>
            <a:ext cx="10515600" cy="48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Test 集上 Transformer 与 LSTM 基线对比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A6223E5-D9AC-1344-5B2E-7EA159074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046727"/>
              </p:ext>
            </p:extLst>
          </p:nvPr>
        </p:nvGraphicFramePr>
        <p:xfrm>
          <a:off x="1504948" y="4297338"/>
          <a:ext cx="9182100" cy="1234440"/>
        </p:xfrm>
        <a:graphic>
          <a:graphicData uri="http://schemas.openxmlformats.org/drawingml/2006/table">
            <a:tbl>
              <a:tblPr/>
              <a:tblGrid>
                <a:gridCol w="1836420">
                  <a:extLst>
                    <a:ext uri="{9D8B030D-6E8A-4147-A177-3AD203B41FA5}">
                      <a16:colId xmlns:a16="http://schemas.microsoft.com/office/drawing/2014/main" val="4140277086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1721525831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4260451751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956985523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1033536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模型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9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9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BLEU-4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CIDEr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9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METEOR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9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9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ROUGE-L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A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345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CNN-Transformer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0.2465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0.7487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0.2633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0.4490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1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CNN-LSTM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0.1796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0.5611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0.2430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0.4107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00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相对提升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+37.2%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+33.4%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+8.3%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+9.3%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36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51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6CF27-E289-D610-5694-D3F8B06B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定性分析与样例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AA7110-6F65-BC91-E06D-A1DEC993D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2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生成质量较好的样例</a:t>
            </a:r>
            <a:endParaRPr lang="en-US" altLang="zh-CN" dirty="0"/>
          </a:p>
          <a:p>
            <a:r>
              <a:rPr lang="zh-CN" altLang="zh-CN" dirty="0"/>
              <a:t>模型能正确识别 </a:t>
            </a:r>
            <a:r>
              <a:rPr lang="zh-CN" altLang="zh-CN" b="1" dirty="0"/>
              <a:t>飞机、滑板、海滩/船</a:t>
            </a:r>
            <a:r>
              <a:rPr lang="zh-CN" altLang="zh-CN" dirty="0"/>
              <a:t> 等主体与场景，句式多为 “a/an + 名词短语 + 介词短语”，符合 COCO 描述风格。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38B82C3-3C42-17F3-5DCD-6CCE38B33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68855"/>
              </p:ext>
            </p:extLst>
          </p:nvPr>
        </p:nvGraphicFramePr>
        <p:xfrm>
          <a:off x="1504950" y="3291375"/>
          <a:ext cx="9182100" cy="1874520"/>
        </p:xfrm>
        <a:graphic>
          <a:graphicData uri="http://schemas.openxmlformats.org/drawingml/2006/table">
            <a:tbl>
              <a:tblPr/>
              <a:tblGrid>
                <a:gridCol w="3060700">
                  <a:extLst>
                    <a:ext uri="{9D8B030D-6E8A-4147-A177-3AD203B41FA5}">
                      <a16:colId xmlns:a16="http://schemas.microsoft.com/office/drawing/2014/main" val="4234829586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762705425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3972369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图像场景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7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6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7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Ground Truth（节选）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E06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6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模型预测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6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400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机场飞机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 large jetliner sitting on top of an airport tarmac.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 large passenger jet sitting on top of an airport tarmac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442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滑板少年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 young boy stands and balances on a skateboard.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 little boy that is on a skateboard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616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海滩场景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 beached boat... on a cloudy day.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 boat sitting on the beach near the ocean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95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25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CF178D-478D-B87E-836E-9C83C152F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456"/>
            <a:ext cx="10515600" cy="2174875"/>
          </a:xfrm>
        </p:spPr>
        <p:txBody>
          <a:bodyPr/>
          <a:lstStyle/>
          <a:p>
            <a:r>
              <a:rPr lang="zh-CN" altLang="zh-CN" dirty="0"/>
              <a:t>典型错误类型</a:t>
            </a:r>
          </a:p>
          <a:p>
            <a:r>
              <a:rPr lang="zh-CN" altLang="zh-CN" dirty="0"/>
              <a:t>LSTM 基线样例（同图 145621）：GT 为 “man checking cell phone”，基线预测为 “man holding a blue and white </a:t>
            </a:r>
            <a:r>
              <a:rPr lang="zh-CN" altLang="zh-CN" b="1" dirty="0"/>
              <a:t>toothbrush</a:t>
            </a:r>
            <a:r>
              <a:rPr lang="zh-CN" altLang="zh-CN" dirty="0"/>
              <a:t>”，说明 </a:t>
            </a:r>
            <a:r>
              <a:rPr lang="zh-CN" altLang="zh-CN" b="1" dirty="0"/>
              <a:t>全局池化 + 递归解码</a:t>
            </a:r>
            <a:r>
              <a:rPr lang="zh-CN" altLang="zh-CN" dirty="0"/>
              <a:t> 在细粒度物体识别上弱于带 spatial attention 的 Transformer。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457E4F2-D451-B4FE-DFAD-9F1F65757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461693"/>
              </p:ext>
            </p:extLst>
          </p:nvPr>
        </p:nvGraphicFramePr>
        <p:xfrm>
          <a:off x="1504950" y="2837425"/>
          <a:ext cx="9182100" cy="2396490"/>
        </p:xfrm>
        <a:graphic>
          <a:graphicData uri="http://schemas.openxmlformats.org/drawingml/2006/table">
            <a:tbl>
              <a:tblPr/>
              <a:tblGrid>
                <a:gridCol w="3060700">
                  <a:extLst>
                    <a:ext uri="{9D8B030D-6E8A-4147-A177-3AD203B41FA5}">
                      <a16:colId xmlns:a16="http://schemas.microsoft.com/office/drawing/2014/main" val="1606051925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3536311590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3509295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错误类型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0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1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00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样例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1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1D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分析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1D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1D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D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56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对象混淆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GT: Two </a:t>
                      </a: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women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... → Pred: a </a:t>
                      </a: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man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is looking at a laptop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对人物性别/数量感知不足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52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动作误判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GT: holding a </a:t>
                      </a: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tennis racquet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→ Pred: trick on a </a:t>
                      </a: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skateboard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相似运动场景混淆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66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细节遗漏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GT: British Airways, rainy day → Pred: 仅描述 airplane on tarmac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品牌、天气等细粒度信息难生成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020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基线重复/胡言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LSTM: ...to her face to her face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LSTM 易出现重复 n-gram，Transformer 明显更流畅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243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46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74312-7024-7E50-E8EB-B03D9037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3678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可视化结果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09F0918-DF53-7103-EED0-A70730612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558" y="1253331"/>
            <a:ext cx="9400884" cy="43513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0730956-596E-F3D7-954E-615BF8418EDF}"/>
              </a:ext>
            </a:extLst>
          </p:cNvPr>
          <p:cNvSpPr txBox="1"/>
          <p:nvPr/>
        </p:nvSpPr>
        <p:spPr>
          <a:xfrm>
            <a:off x="838199" y="5470883"/>
            <a:ext cx="105155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zh-CN" altLang="zh-CN" sz="2000" b="1" i="0" dirty="0">
                <a:effectLst/>
                <a:latin typeface="Helvetica Neue" panose="02000503000000020004" pitchFamily="2" charset="0"/>
              </a:rPr>
              <a:t>GT</a:t>
            </a:r>
            <a:r>
              <a:rPr lang="zh-CN" altLang="zh-CN" sz="2000" b="0" i="0" dirty="0">
                <a:effectLst/>
                <a:latin typeface="Helvetica Neue" panose="02000503000000020004" pitchFamily="2" charset="0"/>
              </a:rPr>
              <a:t>：A beach with dining tables and huge straw umbrellas.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zh-CN" altLang="zh-CN" sz="2000" b="1" i="0" dirty="0">
                <a:effectLst/>
                <a:latin typeface="Helvetica Neue" panose="02000503000000020004" pitchFamily="2" charset="0"/>
              </a:rPr>
              <a:t>Pred</a:t>
            </a:r>
            <a:r>
              <a:rPr lang="zh-CN" altLang="zh-CN" sz="2000" b="0" i="0" dirty="0">
                <a:effectLst/>
                <a:latin typeface="Helvetica Neue" panose="02000503000000020004" pitchFamily="2" charset="0"/>
              </a:rPr>
              <a:t>：a group of tables with umbrellas and a pile of rocks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zh-CN" altLang="zh-CN" sz="2000" b="1" i="0" dirty="0">
                <a:effectLst/>
                <a:latin typeface="Helvetica Neue" panose="02000503000000020004" pitchFamily="2" charset="0"/>
              </a:rPr>
              <a:t>分析</a:t>
            </a:r>
            <a:r>
              <a:rPr lang="zh-CN" altLang="zh-CN" sz="2000" b="0" i="0" dirty="0">
                <a:effectLst/>
                <a:latin typeface="Helvetica Neue" panose="02000503000000020004" pitchFamily="2" charset="0"/>
              </a:rPr>
              <a:t>：模型捕捉到 tables、umbrellas、beach 相关语义；右图 cross-attention 高亮区域与物体所在位置大致对应。</a:t>
            </a:r>
          </a:p>
        </p:txBody>
      </p:sp>
    </p:spTree>
    <p:extLst>
      <p:ext uri="{BB962C8B-B14F-4D97-AF65-F5344CB8AC3E}">
        <p14:creationId xmlns:p14="http://schemas.microsoft.com/office/powerpoint/2010/main" val="4103373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69731-2BC6-64AC-BC7A-36523C5F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综合讨论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39D45A-C711-913C-F603-203A34E87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优势：</a:t>
            </a:r>
            <a:endParaRPr lang="zh-CN" altLang="zh-CN" dirty="0"/>
          </a:p>
          <a:p>
            <a:pPr lvl="1"/>
            <a:r>
              <a:rPr lang="zh-CN" altLang="zh-CN" dirty="0"/>
              <a:t>空间特征 + Transformer cross-attention 使 BLEU-4、CIDEr 相比 LSTM 基线提升 </a:t>
            </a:r>
            <a:r>
              <a:rPr lang="zh-CN" altLang="zh-CN" b="1" dirty="0"/>
              <a:t>约 33%–37%</a:t>
            </a:r>
            <a:r>
              <a:rPr lang="zh-CN" altLang="zh-CN" dirty="0"/>
              <a:t>；</a:t>
            </a:r>
          </a:p>
          <a:p>
            <a:pPr lvl="1"/>
            <a:r>
              <a:rPr lang="zh-CN" altLang="zh-CN" dirty="0"/>
              <a:t>生成句子语法较流畅，常见 COCO 模板（a/an + noun + prep phrase）掌握较好；</a:t>
            </a:r>
          </a:p>
          <a:p>
            <a:pPr lvl="1"/>
            <a:r>
              <a:rPr lang="zh-CN" altLang="zh-CN" dirty="0"/>
              <a:t>全量 11.8 万训练图像、30 epoch 训练后指标稳定，val/test 一致（BLEU-4 约 0.25）。</a:t>
            </a:r>
          </a:p>
          <a:p>
            <a:r>
              <a:rPr lang="zh-CN" altLang="zh-CN" b="1" dirty="0"/>
              <a:t>不足：</a:t>
            </a:r>
            <a:endParaRPr lang="zh-CN" altLang="zh-CN" dirty="0"/>
          </a:p>
          <a:p>
            <a:pPr lvl="1"/>
            <a:r>
              <a:rPr lang="zh-CN" altLang="zh-CN" dirty="0"/>
              <a:t>细粒度属性（颜色、品牌、天气、人数/性别）仍易出错；</a:t>
            </a:r>
          </a:p>
          <a:p>
            <a:pPr lvl="1"/>
            <a:r>
              <a:rPr lang="zh-CN" altLang="zh-CN" dirty="0"/>
              <a:t>倾向生成安全、通用的描述，多样性不足；</a:t>
            </a:r>
          </a:p>
          <a:p>
            <a:pPr lvl="1"/>
            <a:r>
              <a:rPr lang="zh-CN" altLang="zh-CN" dirty="0"/>
              <a:t>未使用 CIDEr 强化学习微调，指标仍低于 SOTA Transformer captioner；</a:t>
            </a:r>
          </a:p>
        </p:txBody>
      </p:sp>
    </p:spTree>
    <p:extLst>
      <p:ext uri="{BB962C8B-B14F-4D97-AF65-F5344CB8AC3E}">
        <p14:creationId xmlns:p14="http://schemas.microsoft.com/office/powerpoint/2010/main" val="1035450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184B9-E310-A4D6-9491-A4531F5B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总结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F36EE-D29C-F603-4FFB-EE7D1D8EF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本实验在 MSCOCO 2017 上完成了 </a:t>
            </a:r>
            <a:r>
              <a:rPr lang="zh-CN" altLang="zh-CN" sz="2400" b="1" dirty="0"/>
              <a:t>CNN-Transformer 图像描述模型</a:t>
            </a:r>
            <a:r>
              <a:rPr lang="zh-CN" altLang="zh-CN" sz="2400" dirty="0"/>
              <a:t> 的设计、训练与评测。模型以 </a:t>
            </a:r>
            <a:r>
              <a:rPr lang="zh-CN" altLang="zh-CN" sz="2400" b="1" dirty="0"/>
              <a:t>ResNet50 空间特征 + 3 层 Transformer Encoder-Decoder</a:t>
            </a:r>
            <a:r>
              <a:rPr lang="zh-CN" altLang="zh-CN" sz="2400" dirty="0"/>
              <a:t> 为核心，配合交叉熵损失与 AdamW 优化，在 test 集上取得 </a:t>
            </a:r>
            <a:r>
              <a:rPr lang="zh-CN" altLang="zh-CN" sz="2400" b="1" dirty="0"/>
              <a:t>BLEU-4 = 0.2465、CIDEr = 0.7487、METEOR = 0.2633</a:t>
            </a:r>
            <a:r>
              <a:rPr lang="zh-CN" altLang="zh-CN" sz="2400" dirty="0"/>
              <a:t>，显著优于同划分下的 </a:t>
            </a:r>
            <a:r>
              <a:rPr lang="zh-CN" altLang="zh-CN" sz="2400" b="1" dirty="0"/>
              <a:t>CNN-LSTM 基线</a:t>
            </a:r>
            <a:r>
              <a:rPr lang="zh-CN" altLang="zh-CN" sz="2400" dirty="0"/>
              <a:t>（BLEU-4 = 0.1796、CIDEr = 0.5611）。</a:t>
            </a:r>
          </a:p>
          <a:p>
            <a:r>
              <a:rPr lang="zh-CN" altLang="zh-CN" sz="2400" dirty="0"/>
              <a:t>实验表明：</a:t>
            </a:r>
            <a:r>
              <a:rPr lang="zh-CN" altLang="zh-CN" sz="2400" b="1" dirty="0"/>
              <a:t>保留空间结构的视觉 token 与 Transformer cross-attention 解码</a:t>
            </a:r>
            <a:r>
              <a:rPr lang="zh-CN" altLang="zh-CN" sz="2400" dirty="0"/>
              <a:t>，相比全局池化 + LSTM，能更有效地建立“图像区域—单词”对应关系，生成更准确的英文描述。通过注意力可视化，可进一步直观理解模型的推理过程及其在对象、场景类图像上的优劣。</a:t>
            </a:r>
          </a:p>
        </p:txBody>
      </p:sp>
    </p:spTree>
    <p:extLst>
      <p:ext uri="{BB962C8B-B14F-4D97-AF65-F5344CB8AC3E}">
        <p14:creationId xmlns:p14="http://schemas.microsoft.com/office/powerpoint/2010/main" val="308943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1520</Words>
  <Application>Microsoft Macintosh PowerPoint</Application>
  <PresentationFormat>宽屏</PresentationFormat>
  <Paragraphs>169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Helvetica Neue</vt:lpstr>
      <vt:lpstr>Monaco</vt:lpstr>
      <vt:lpstr>Office 主题​​</vt:lpstr>
      <vt:lpstr>实验八：基于 CNN-Transformer 的图像描述生成</vt:lpstr>
      <vt:lpstr>概述</vt:lpstr>
      <vt:lpstr>数据集</vt:lpstr>
      <vt:lpstr>整体架构</vt:lpstr>
      <vt:lpstr>网络结构设计</vt:lpstr>
      <vt:lpstr>数据处理与词表</vt:lpstr>
      <vt:lpstr>损失函数与优化器</vt:lpstr>
      <vt:lpstr>其他工程改进（创新点 ③④）</vt:lpstr>
      <vt:lpstr>实验分析</vt:lpstr>
      <vt:lpstr>定性分析与样例</vt:lpstr>
      <vt:lpstr>PowerPoint 演示文稿</vt:lpstr>
      <vt:lpstr>可视化结果</vt:lpstr>
      <vt:lpstr>综合讨论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立景 朱</dc:creator>
  <cp:lastModifiedBy>立景 朱</cp:lastModifiedBy>
  <cp:revision>2</cp:revision>
  <dcterms:created xsi:type="dcterms:W3CDTF">2026-06-19T13:49:46Z</dcterms:created>
  <dcterms:modified xsi:type="dcterms:W3CDTF">2026-06-19T14:14:31Z</dcterms:modified>
</cp:coreProperties>
</file>