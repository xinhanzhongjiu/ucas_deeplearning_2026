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67"/>
  </p:normalViewPr>
  <p:slideViewPr>
    <p:cSldViewPr snapToGrid="0">
      <p:cViewPr varScale="1">
        <p:scale>
          <a:sx n="145" d="100"/>
          <a:sy n="145" d="100"/>
        </p:scale>
        <p:origin x="1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A0587-5092-06F0-98B8-4CF8332B5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759C7B-92CF-3814-0AE2-B1A8C1863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4AD0BD-94EF-AC8F-B900-818F8BBE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8CA61-3FAD-6055-2A3F-C6421467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577BEA-2F08-5255-EABC-C102B815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4115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56041-6612-22EF-E314-75C5EE6C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CED4E9-5BEE-371D-1F5E-6D5A732BB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4B6BA5-E9C3-43B8-6928-E73142F6D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469A9-C742-A5E4-2138-7F0820163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252051-4235-2E43-F7E5-526238C4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7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CF12D6-A54A-E10E-CC63-619D396C0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B0B91C-956B-0F93-121B-900264886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6F9E0-68D1-DFB0-BB69-67BF41CD0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DB81-613C-9A85-4DAF-99507F64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CFF225-B949-9F94-8731-7F79DABA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869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82763-C5AD-535A-0640-53A572F6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E366D-69CC-2591-EA1D-9F8DC738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59B09B-DF2E-4266-B358-D594C5988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1C27A7-7251-D19C-A5A4-C3EC8637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486822-BE16-5D6F-CAFE-6C35AE19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C44F84-6BAE-7C90-797D-E4244DDD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061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634E4-1D71-083B-3822-95669ECD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4137CA-DE68-89BD-1A38-62342BB9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E47D26-3DFF-5246-EE4E-26753C201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6CC2C7-62B6-76CC-42E5-2F1C8C62D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21CB5A-98E4-A6D4-5D27-068A3C5DA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0F92C8B-2533-8BE5-D161-5CD328A8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D45238-62E5-955E-FB63-C04746D1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DFD3A7-B692-DEE8-54D7-595988CCA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514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A48AD-6E14-5712-5737-AC5A7C0E3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555412-94A2-4108-FB19-610E1C74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99BB2F-F10C-09AF-CCE4-9E8E3CF39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2C44A1-0C2D-DBC6-6D1D-2783667F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229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A06BC4F-F766-8C1E-6B5B-3704C5E22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BDE0DE-7713-B23B-2180-6F3EDCC5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937C67-39EB-E8D2-27B9-2345DB73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998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828C1-E9DF-CB16-5F99-EBFB0CBC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582DA2-9E4E-1386-0B28-A20942230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23A294-4DB2-C7C0-55F9-03D10278E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69189B-1239-3EC3-FD2B-38D51F7B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6223D4-A202-8909-DA40-A4B9CF92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7819D1-3B03-2E49-33A4-1DE5AE4F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937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8220F-6B5B-4A31-25BF-C35B6A3C8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8C5F59-E931-1B54-7066-59D492E31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F82C-0B36-4BD9-0F73-994F2C3F9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919D0C-BB55-C2D8-5769-2993A60A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A61271-CFC1-F329-4704-E9345E81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2BBA18-5ED7-3337-6218-2C5DA560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4616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6E6D89-19A1-8E31-687B-36BD2215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C0F415-07CD-494A-F5E7-E49443809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D66BBB-58CF-6BF5-2262-583C512A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42D18C-42EA-E00C-29E2-022C13B1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377E4-D09E-4278-FA3D-2828C3F3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9766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4D24BA-950F-BCCB-A630-5BA84EB79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0C9F92-9B3A-ACD8-C573-7E8C6F150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AB62D2-1DB0-1664-345D-70334BD0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37A5B8-3CB4-EA85-9B84-7D4C1D27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DE43B0-8E31-A34E-5B94-15E448C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07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595D3A-B0D6-7343-3C01-576BAF07A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3A0E2C-673E-AD6F-1152-730E36EB1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81F52C-271F-5943-E91E-AFB3553AA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C4109-49F1-0C4A-A94A-4C2724103A2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87FEEE-6D3D-B9E2-CA87-FABFAA570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E6DF18-321D-F775-0FDB-6346577E4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49EDC-14F0-404C-AFF4-32010B26DC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69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43CEE-51CB-44BD-022D-454053BB3C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zh-CN" sz="5400" b="1" dirty="0"/>
              <a:t>实验二：基于 Vision</a:t>
            </a:r>
            <a:r>
              <a:rPr lang="en-US" altLang="zh-CN" sz="5400" b="1" dirty="0"/>
              <a:t>-</a:t>
            </a:r>
            <a:r>
              <a:rPr lang="zh-CN" altLang="zh-CN" sz="5400" b="1" dirty="0"/>
              <a:t>Transformer </a:t>
            </a:r>
            <a:br>
              <a:rPr lang="en-US" altLang="zh-CN" sz="5400" b="1" dirty="0"/>
            </a:br>
            <a:r>
              <a:rPr lang="zh-CN" altLang="zh-CN" sz="5400" b="1" dirty="0"/>
              <a:t>的 CIFAR-10 图像分类</a:t>
            </a:r>
            <a:endParaRPr kumimoji="1" lang="zh-CN" altLang="en-US" sz="5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9BCBA4-61AD-A638-B949-F176C5FFA1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dirty="0"/>
              <a:t>朱立景 2025E8013282177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4022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7CDE5-FC1A-5F33-8CDE-7D6E485E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概述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1F08A5-7FD9-588A-659E-B21FCC721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dirty="0"/>
              <a:t>本实验旨在使用 </a:t>
            </a:r>
            <a:r>
              <a:rPr lang="zh-CN" altLang="zh-CN" sz="2000" b="1" dirty="0"/>
              <a:t>Vision Transformer（ViT）</a:t>
            </a:r>
            <a:r>
              <a:rPr lang="zh-CN" altLang="zh-CN" sz="2000" dirty="0"/>
              <a:t> 完成 CIFAR-10 数据集的 10 类图像分类任务，并在测试集上达到 </a:t>
            </a:r>
            <a:r>
              <a:rPr lang="zh-CN" altLang="zh-CN" sz="2000" b="1" dirty="0"/>
              <a:t>90% 以上</a:t>
            </a:r>
            <a:r>
              <a:rPr lang="zh-CN" altLang="zh-CN" sz="2000" dirty="0"/>
              <a:t> 的分类准确率。</a:t>
            </a:r>
          </a:p>
          <a:p>
            <a:r>
              <a:rPr lang="zh-CN" altLang="zh-CN" sz="2000" b="1" dirty="0"/>
              <a:t>任务定义：</a:t>
            </a:r>
            <a:r>
              <a:rPr lang="zh-CN" altLang="zh-CN" sz="2000" dirty="0"/>
              <a:t> 给定一张 32×32 的 RGB 彩色图像，模型输出其所属类别（飞机、汽车、鸟、猫、鹿、狗、青蛙、马、船、卡车）。</a:t>
            </a:r>
          </a:p>
          <a:p>
            <a:r>
              <a:rPr lang="zh-CN" altLang="zh-CN" sz="2000" b="1" dirty="0"/>
              <a:t>数据集：</a:t>
            </a:r>
            <a:r>
              <a:rPr lang="zh-CN" altLang="zh-CN" sz="2000" dirty="0"/>
              <a:t> CIFAR-10，包含 50,000 张训练图像与 10,000 张测试图像，共 10 个类别，每类 6,000 张（训练 5,000 + 测试 1,000）。</a:t>
            </a:r>
          </a:p>
          <a:p>
            <a:r>
              <a:rPr lang="zh-CN" altLang="zh-CN" sz="2000" b="1" dirty="0"/>
              <a:t>解决方案：</a:t>
            </a:r>
            <a:r>
              <a:rPr lang="zh-CN" altLang="zh-CN" sz="2000" dirty="0"/>
              <a:t> 针对 CIFAR-10 的小分辨率特点，设计轻量级 ViT 网络（Patch Size = 4，Embed Dim = 192，Depth = 9），配合 RandAugment、Mixup/CutMix、Label Smoothing 等训练技巧，采用 AdamW 优化器与 Cosine 学习率调度，在 GPU 上训练 200 个 epoch。</a:t>
            </a:r>
          </a:p>
          <a:p>
            <a:r>
              <a:rPr lang="zh-CN" altLang="zh-CN" sz="2000" b="1" dirty="0"/>
              <a:t>实验环境：</a:t>
            </a:r>
            <a:r>
              <a:rPr lang="zh-CN" altLang="zh-CN" sz="2000" dirty="0"/>
              <a:t> Conda，Python 3.10，PyTorch 2.5.1 + CUDA，NVIDIA A800 GPU。</a:t>
            </a:r>
          </a:p>
          <a:p>
            <a:r>
              <a:rPr lang="zh-CN" altLang="zh-CN" sz="2000" b="1" dirty="0"/>
              <a:t>实验结果：</a:t>
            </a:r>
            <a:r>
              <a:rPr lang="zh-CN" altLang="zh-CN" sz="2000" dirty="0"/>
              <a:t> 最佳测试准确率 </a:t>
            </a:r>
            <a:r>
              <a:rPr lang="zh-CN" altLang="zh-CN" sz="2000" b="1" dirty="0"/>
              <a:t>91.11%</a:t>
            </a:r>
            <a:r>
              <a:rPr lang="zh-CN" altLang="zh-CN" sz="2000" dirty="0"/>
              <a:t>（第 183 epoch），达到预设目标（≥ 90%）。</a:t>
            </a:r>
          </a:p>
        </p:txBody>
      </p:sp>
    </p:spTree>
    <p:extLst>
      <p:ext uri="{BB962C8B-B14F-4D97-AF65-F5344CB8AC3E}">
        <p14:creationId xmlns:p14="http://schemas.microsoft.com/office/powerpoint/2010/main" val="2554956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25AB9-0CC9-38C7-B3A2-7A09A0CB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整体流程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D7973-7E63-867D-FA9C-B73EB968D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CIFAR-10 </a:t>
            </a:r>
            <a:r>
              <a:rPr lang="zh-CN" altLang="en-US" dirty="0"/>
              <a:t>图像 → 数据增强 </a:t>
            </a:r>
            <a:r>
              <a:rPr lang="en-US" altLang="zh-CN" dirty="0"/>
              <a:t>&amp; </a:t>
            </a:r>
            <a:r>
              <a:rPr lang="zh-CN" altLang="en-US" dirty="0"/>
              <a:t>归一化 → </a:t>
            </a:r>
            <a:r>
              <a:rPr lang="en-US" altLang="zh-CN" dirty="0"/>
              <a:t>Patch </a:t>
            </a:r>
            <a:r>
              <a:rPr lang="zh-CN" altLang="en-US" dirty="0"/>
              <a:t>切分 </a:t>
            </a:r>
            <a:r>
              <a:rPr lang="en-US" altLang="zh-CN" dirty="0"/>
              <a:t>&amp; </a:t>
            </a:r>
            <a:r>
              <a:rPr lang="zh-CN" altLang="en-US" dirty="0"/>
              <a:t>嵌入 → </a:t>
            </a:r>
            <a:r>
              <a:rPr lang="en-US" altLang="zh-CN" dirty="0" err="1"/>
              <a:t>ViT</a:t>
            </a:r>
            <a:r>
              <a:rPr lang="en-US" altLang="zh-CN" dirty="0"/>
              <a:t> Encoder → CLS Token → </a:t>
            </a:r>
            <a:r>
              <a:rPr lang="zh-CN" altLang="en-US" dirty="0"/>
              <a:t>线性分类头 → </a:t>
            </a:r>
            <a:r>
              <a:rPr lang="en-US" altLang="zh-CN" dirty="0"/>
              <a:t>10 </a:t>
            </a:r>
            <a:r>
              <a:rPr lang="zh-CN" altLang="en-US" dirty="0"/>
              <a:t>类 </a:t>
            </a:r>
            <a:r>
              <a:rPr lang="en-US" altLang="zh-CN" dirty="0"/>
              <a:t>logits</a:t>
            </a:r>
          </a:p>
          <a:p>
            <a:r>
              <a:rPr lang="zh-CN" altLang="zh-CN" dirty="0"/>
              <a:t>训练阶段对输入图像施加随机裁剪、翻转、RandAugment、Random Erasing 等增强，并以 Mixup / CutMix 混合样本；测试阶段仅做 ToTensor 与标准化。模型以 [CLS] token 的最终表示作为全局图像特征，经线性层输出类别概率。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9976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7D575-2A4D-7244-8595-07672BF5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网络结构设计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7AC6CC-8878-318A-C5F3-FC12295D2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模型 VisionTransformer 遵循 Dosovitskiy 等人提出的 ViT 架构，针对 32×32 小图做了尺度适配：</a:t>
            </a:r>
          </a:p>
          <a:p>
            <a:r>
              <a:rPr lang="zh-CN" altLang="zh-CN" dirty="0"/>
              <a:t>full-size ViT 通常使用 16×16 patch，本实验采用 </a:t>
            </a:r>
            <a:r>
              <a:rPr lang="zh-CN" altLang="zh-CN" b="1" dirty="0"/>
              <a:t>4×4 patch</a:t>
            </a:r>
            <a:r>
              <a:rPr lang="zh-CN" altLang="zh-CN" dirty="0"/>
              <a:t>，使 32×32 图像产生 8×8 = </a:t>
            </a:r>
            <a:r>
              <a:rPr lang="zh-CN" altLang="zh-CN" b="1" dirty="0"/>
              <a:t>64 个 patch</a:t>
            </a:r>
            <a:r>
              <a:rPr lang="zh-CN" altLang="zh-CN" dirty="0"/>
              <a:t>，保留足够的空间分辨率供 Transformer 建模。</a:t>
            </a:r>
          </a:p>
          <a:p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F896394-CAA8-F336-A92B-F62FB0E2F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12099"/>
              </p:ext>
            </p:extLst>
          </p:nvPr>
        </p:nvGraphicFramePr>
        <p:xfrm>
          <a:off x="838200" y="3931833"/>
          <a:ext cx="10515600" cy="224512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9586074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9793507"/>
                    </a:ext>
                  </a:extLst>
                </a:gridCol>
              </a:tblGrid>
              <a:tr h="37418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模块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806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5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6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说明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E05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5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5F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559397"/>
                  </a:ext>
                </a:extLst>
              </a:tr>
              <a:tr h="37418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Patch Embedding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4×4 卷积（stride=4）将图像切分并投影到 192 维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144274"/>
                  </a:ext>
                </a:extLst>
              </a:tr>
              <a:tr h="37418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CLS Token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可学习分类 token，拼接于 patch 序列首位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436967"/>
                  </a:ext>
                </a:extLst>
              </a:tr>
              <a:tr h="37418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Positional Embedding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可学习位置编码，长度 = 64 + 1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473483"/>
                  </a:ext>
                </a:extLst>
              </a:tr>
              <a:tr h="37418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Transformer Encoder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9 层，每层含 Pre-Norm 多头自注意力 + MLP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837875"/>
                  </a:ext>
                </a:extLst>
              </a:tr>
              <a:tr h="37418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分类头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LayerNorm + Linear(192 → 10)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886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976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958EF-2FCE-62B5-244A-1B00BB195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损失函数设计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7F1342-A001-B638-C043-DF54E5512D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dirty="0"/>
                  <a:t>训练时使用带 </a:t>
                </a:r>
                <a:r>
                  <a:rPr lang="zh-CN" altLang="zh-CN" b="1" dirty="0"/>
                  <a:t>Label Smoothing</a:t>
                </a:r>
                <a:r>
                  <a:rPr lang="zh-CN" altLang="zh-CN" dirty="0"/>
                  <a:t> 的交叉熵损失（label_smoothing=0.1），缓解过拟合并提升泛化。当启用 Mixup / CutMix 时，损失对两个混合标签加权求和：</a:t>
                </a:r>
              </a:p>
              <a:p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zh-CN" altLang="zh-CN" i="0" dirty="0" smtClean="0">
                        <a:latin typeface="Cambria Math" panose="02040503050406030204" pitchFamily="18" charset="0"/>
                      </a:rPr>
                      <m:t>CE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zh-CN" altLang="zh-CN" i="0" dirty="0" smtClean="0">
                        <a:latin typeface="Cambria Math" panose="02040503050406030204" pitchFamily="18" charset="0"/>
                      </a:rPr>
                      <m:t>CE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r>
                  <a:rPr lang="zh-CN" altLang="zh-CN" dirty="0"/>
                  <a:t>其中 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zh-CN" altLang="zh-CN" i="0" dirty="0" smtClean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zh-CN" altLang="zh-CN" dirty="0"/>
                  <a:t>，Mixup 取 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zh-CN" altLang="zh-CN" dirty="0"/>
                  <a:t>，CutMix 取 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zh-CN" altLang="zh-CN" dirty="0"/>
                  <a:t>，二者以 50% 概率随机选用。</a:t>
                </a:r>
                <a:endParaRPr lang="en-US" altLang="zh-CN" dirty="0"/>
              </a:p>
              <a:p>
                <a:r>
                  <a:rPr lang="zh-CN" altLang="zh-CN" dirty="0"/>
                  <a:t>评估阶段使用标准交叉熵（无 Label Smoothing、无 Mixup），以 argmax 准确率作为指标。</a:t>
                </a:r>
              </a:p>
              <a:p>
                <a:endParaRPr kumimoji="1"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7F1342-A001-B638-C043-DF54E5512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16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7DACB-1A66-202A-E3A3-E3537FB0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优化器与学习率调度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46273D-EE64-F313-32D9-2FF714A4D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优化器：</a:t>
            </a:r>
            <a:r>
              <a:rPr lang="zh-CN" altLang="zh-CN" dirty="0"/>
              <a:t> AdamW，基础学习率 5e-4，权重衰减 0.05。对 bias 与 LayerNorm 参数不做 weight decay，其余权重参数施加衰减，这是 ViT 训练的常见做法。</a:t>
            </a:r>
            <a:endParaRPr lang="en-US" altLang="zh-CN" dirty="0"/>
          </a:p>
          <a:p>
            <a:r>
              <a:rPr lang="zh-CN" altLang="zh-CN" b="1" dirty="0"/>
              <a:t>学习率调度：</a:t>
            </a:r>
            <a:r>
              <a:rPr lang="zh-CN" altLang="zh-CN" dirty="0"/>
              <a:t> 前 10 个 epoch 线性 Warmup，之后 Cosine 退火至 0</a:t>
            </a:r>
            <a:endParaRPr lang="en-US" altLang="zh-CN" dirty="0"/>
          </a:p>
          <a:p>
            <a:r>
              <a:rPr lang="zh-CN" altLang="zh-CN" b="1" dirty="0"/>
              <a:t>其他训练细节：</a:t>
            </a:r>
            <a:endParaRPr lang="zh-CN" altLang="zh-CN" dirty="0"/>
          </a:p>
          <a:p>
            <a:pPr lvl="1"/>
            <a:r>
              <a:rPr lang="zh-CN" altLang="zh-CN" dirty="0"/>
              <a:t>Batch Size = 128</a:t>
            </a:r>
          </a:p>
          <a:p>
            <a:pPr lvl="1"/>
            <a:r>
              <a:rPr lang="zh-CN" altLang="zh-CN" dirty="0"/>
              <a:t>梯度裁剪：max_norm = 1.0</a:t>
            </a:r>
          </a:p>
          <a:p>
            <a:pPr lvl="1"/>
            <a:r>
              <a:rPr lang="zh-CN" altLang="zh-CN" dirty="0"/>
              <a:t>随机种子：42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511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EF9DC-BB0B-D162-E6E7-283B1AE0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工程优化（创新点）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741F2E-C8E9-C690-0160-8510B027D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小图 ViT 适配：</a:t>
            </a:r>
            <a:r>
              <a:rPr lang="zh-CN" altLang="zh-CN" dirty="0"/>
              <a:t> 将 patch size 设为 4（而非 ImageNet 常用的 16），使 32×32 图像仍保留 64 个 patch，避免序列过短导致 ViT 无法有效建模空间关系。</a:t>
            </a:r>
          </a:p>
          <a:p>
            <a:r>
              <a:rPr lang="zh-CN" altLang="zh-CN" b="1" dirty="0"/>
              <a:t>组合式正则化：</a:t>
            </a:r>
            <a:r>
              <a:rPr lang="zh-CN" altLang="zh-CN" dirty="0"/>
              <a:t> 同时启用 Mixup、CutMix 与 Label Smoothing，三者协同抑制 ViT 在 CIFAR-10 小数据集上的过拟合倾向。</a:t>
            </a:r>
          </a:p>
        </p:txBody>
      </p:sp>
    </p:spTree>
    <p:extLst>
      <p:ext uri="{BB962C8B-B14F-4D97-AF65-F5344CB8AC3E}">
        <p14:creationId xmlns:p14="http://schemas.microsoft.com/office/powerpoint/2010/main" val="1869098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E8B9D-2265-E85D-3F30-F3515653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实验</a:t>
            </a:r>
            <a:r>
              <a:rPr lang="zh-CN" altLang="en-US" b="1" dirty="0"/>
              <a:t>结果与</a:t>
            </a:r>
            <a:r>
              <a:rPr lang="zh-CN" altLang="zh-CN" b="1" dirty="0"/>
              <a:t>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C24590-71FB-6A9D-B9AC-A0E03480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869467"/>
          </a:xfrm>
        </p:spPr>
        <p:txBody>
          <a:bodyPr>
            <a:normAutofit/>
          </a:bodyPr>
          <a:lstStyle/>
          <a:p>
            <a:r>
              <a:rPr lang="zh-CN" altLang="zh-CN" sz="2400" b="1" dirty="0"/>
              <a:t>收敛曲线特征分析：</a:t>
            </a:r>
            <a:endParaRPr lang="zh-CN" altLang="zh-CN" sz="2400" dirty="0"/>
          </a:p>
          <a:p>
            <a:pPr lvl="1"/>
            <a:r>
              <a:rPr lang="zh-CN" altLang="zh-CN" sz="2000" b="1" dirty="0"/>
              <a:t>Warmup 阶段（Epoch 1–10）：</a:t>
            </a:r>
            <a:r>
              <a:rPr lang="zh-CN" altLang="zh-CN" sz="2000" dirty="0"/>
              <a:t> 学习率从 1×10⁻⁴ 线性升至 5×10⁻⁴，准确率由 26.83% 快速升至 53.84%，模型在学习基础特征。</a:t>
            </a:r>
          </a:p>
          <a:p>
            <a:pPr lvl="1"/>
            <a:r>
              <a:rPr lang="zh-CN" altLang="zh-CN" sz="2000" b="1" dirty="0"/>
              <a:t>快速学习期（Epoch 11–80）：</a:t>
            </a:r>
            <a:r>
              <a:rPr lang="zh-CN" altLang="zh-CN" sz="2000" dirty="0"/>
              <a:t> Cosine 调度下准确率持续攀升，Epoch 80 达到 84.86%，Loss 从 1.3+ 降至 0.59 左右。</a:t>
            </a:r>
          </a:p>
          <a:p>
            <a:pPr lvl="1"/>
            <a:r>
              <a:rPr lang="zh-CN" altLang="zh-CN" sz="2000" b="1" dirty="0"/>
              <a:t>精细调优期（Epoch 81–150）：</a:t>
            </a:r>
            <a:r>
              <a:rPr lang="zh-CN" altLang="zh-CN" sz="2000" dirty="0"/>
              <a:t> 增速放缓，Epoch 100–150 准确率从 86.59% 提升至 90.11%，突破 90% 门槛。</a:t>
            </a:r>
          </a:p>
          <a:p>
            <a:pPr lvl="1"/>
            <a:r>
              <a:rPr lang="zh-CN" altLang="zh-CN" sz="2000" b="1" dirty="0"/>
              <a:t>平台收敛期（Epoch 151–200）：</a:t>
            </a:r>
            <a:r>
              <a:rPr lang="zh-CN" altLang="zh-CN" sz="2000" dirty="0"/>
              <a:t> 准确率在 90%–91.1% 之间波动，Loss 稳定在 0.39–0.43，模型已充分收敛，继续训练收益有限。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6D08CCD-2696-A606-FC93-01692D907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786284"/>
              </p:ext>
            </p:extLst>
          </p:nvPr>
        </p:nvGraphicFramePr>
        <p:xfrm>
          <a:off x="838199" y="1690688"/>
          <a:ext cx="10515600" cy="15644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842318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49330739"/>
                    </a:ext>
                  </a:extLst>
                </a:gridCol>
              </a:tblGrid>
              <a:tr h="312896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指标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E0D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1E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结果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001E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1E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1E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243128"/>
                  </a:ext>
                </a:extLst>
              </a:tr>
              <a:tr h="312896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最佳测试准确率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91.11%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（Epoch 183）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87932"/>
                  </a:ext>
                </a:extLst>
              </a:tr>
              <a:tr h="312896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最终测试准确率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91.03%（Epoch 200）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403803"/>
                  </a:ext>
                </a:extLst>
              </a:tr>
              <a:tr h="312896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最佳测试 Loss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0.3891（Epoch 185）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40729"/>
                  </a:ext>
                </a:extLst>
              </a:tr>
              <a:tr h="312896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目标准确率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≥ 90% ✓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98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99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7D9504-760C-764C-9E65-B822F00B6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Loss 与准确率关系：</a:t>
            </a:r>
            <a:r>
              <a:rPr lang="zh-CN" altLang="zh-CN" dirty="0"/>
              <a:t> 训练 Loss 全程高于测试 Loss（例如 Epoch 200 训练 Loss 1.35 vs 测试 Loss 0.39），这是 Mixup/CutMix 与 Label Smoothing 的预期现象——训练目标被「软化」，而评估使用硬标签，二者不可直接对比，但测试准确率的持续上升表明正则化策略有效。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2989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94318-0A91-0FDD-28E7-D9B35B1F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总结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350F19-CA1D-DB87-7FE0-B7A4DDAFD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本实验成功实现了基于 Vision Transformer 的 CIFAR-10 图像分类系统。通过将 patch size 缩小至 4×4、控制模型规模（约 400 万参数），并配合 RandAugment、Mixup/CutMix、Label Smoothing 及 AdamW + Cosine 调度等训练策略，在 200 个 epoch 后于测试集取得 </a:t>
            </a:r>
            <a:r>
              <a:rPr lang="zh-CN" altLang="zh-CN" b="1" dirty="0"/>
              <a:t>91.11%</a:t>
            </a:r>
            <a:r>
              <a:rPr lang="zh-CN" altLang="zh-CN" dirty="0"/>
              <a:t> 的最佳准确率，超过 90% 的实验目标。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8178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1043</Words>
  <Application>Microsoft Macintosh PowerPoint</Application>
  <PresentationFormat>宽屏</PresentationFormat>
  <Paragraphs>61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Arial</vt:lpstr>
      <vt:lpstr>Cambria Math</vt:lpstr>
      <vt:lpstr>Helvetica Neue</vt:lpstr>
      <vt:lpstr>Office 主题​​</vt:lpstr>
      <vt:lpstr>实验二：基于 Vision-Transformer  的 CIFAR-10 图像分类</vt:lpstr>
      <vt:lpstr>概述</vt:lpstr>
      <vt:lpstr>整体流程</vt:lpstr>
      <vt:lpstr>网络结构设计</vt:lpstr>
      <vt:lpstr>损失函数设计</vt:lpstr>
      <vt:lpstr>优化器与学习率调度</vt:lpstr>
      <vt:lpstr>工程优化（创新点）</vt:lpstr>
      <vt:lpstr>实验结果与分析</vt:lpstr>
      <vt:lpstr>PowerPoint 演示文稿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立景 朱</dc:creator>
  <cp:lastModifiedBy>立景 朱</cp:lastModifiedBy>
  <cp:revision>1</cp:revision>
  <dcterms:created xsi:type="dcterms:W3CDTF">2026-06-19T11:59:59Z</dcterms:created>
  <dcterms:modified xsi:type="dcterms:W3CDTF">2026-06-19T12:14:52Z</dcterms:modified>
</cp:coreProperties>
</file>