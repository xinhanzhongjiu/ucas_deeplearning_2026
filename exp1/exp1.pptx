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67"/>
  </p:normalViewPr>
  <p:slideViewPr>
    <p:cSldViewPr snapToGrid="0">
      <p:cViewPr varScale="1">
        <p:scale>
          <a:sx n="145" d="100"/>
          <a:sy n="145" d="100"/>
        </p:scale>
        <p:origin x="11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DFD855-C3FA-9062-F633-3CC77B47B9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92C491F-E995-D89D-9675-3E1880D6AF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7483E9-5211-45F0-D944-011EB17DD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9E53-A463-6949-B000-4DA6C9DCBCD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62930A-82F4-E520-8425-91255ABEA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426F2B-904B-9B8C-0FB2-462FBA544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8955-BCFA-3C42-859C-9B87F090B4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9356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AE3A37-3F8F-BFE0-4140-57AF4FAA1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3606EB-702D-6986-E30A-54A04248F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1FAC32-00C0-C7F7-48B8-5935BC547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9E53-A463-6949-B000-4DA6C9DCBCD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CA3427-4BFE-B9B0-CFA0-D750EB593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CA6006-A9CC-0886-B197-0AB5C4644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8955-BCFA-3C42-859C-9B87F090B4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4063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B634E6-8894-6005-C845-BD3D666C2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EE14DD-F435-6E86-A127-A4CA08BC3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D4F276-5505-0B0D-1B56-E22EED47D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9E53-A463-6949-B000-4DA6C9DCBCD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5E601F-98C6-EBB9-A1D2-D6116476B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3A8252-9919-F98F-1CBE-62D8C4988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8955-BCFA-3C42-859C-9B87F090B4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3609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AD6FEB-57CE-901C-B501-E64C879E2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846416-03EF-715F-75C3-261B99ADC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9BB6A6-05DC-A871-68DA-C4A78D934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BDE3C0-52F3-3949-E63A-6AF9C3510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9E53-A463-6949-B000-4DA6C9DCBCD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6A9B93-AD92-49B7-2DA0-CDA42EB10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2E0D9F-2671-FF73-91E2-75A3FB35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8955-BCFA-3C42-859C-9B87F090B4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3130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49ADA0-7B64-74B8-927E-DF1E0440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3C8A59-8B4A-95A0-4A03-FCFEC25AE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8F525D-AA7A-64B4-7E30-8CCF2D924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E53D1F-1DD0-CE57-5DF0-E231651BAA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F8DFB1-0EE7-D9C6-27B0-79515B6FBA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5E52C63-6CB5-CB1E-BB13-D5CEDC0DC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9E53-A463-6949-B000-4DA6C9DCBCD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9B81E36-2D1F-F973-B910-04DFA5D6A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69E7D51-CD2A-0CC6-F10A-1F7E513F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8955-BCFA-3C42-859C-9B87F090B4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5944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F0487-8F9A-D40E-EE61-5AE134E73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FD00CB0-9398-D341-5D7D-DD52A7EC6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9E53-A463-6949-B000-4DA6C9DCBCD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3BC1539-054A-5999-4D50-076A6034D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E8DACC-A54C-3D9C-A8F0-703C2A690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8955-BCFA-3C42-859C-9B87F090B4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3634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337F79D-9E8E-0328-E8C2-93FBEE841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9E53-A463-6949-B000-4DA6C9DCBCD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54E61BD-2A84-240C-E8D0-C8B0645D9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02CCC6-397A-CC46-CE0A-66860F3C7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8955-BCFA-3C42-859C-9B87F090B4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6001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88C86D-103E-1B33-DA60-F4156CA1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45B23A-5154-E93F-B2A6-DD6F6B1E8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C1AAA7-1F2E-342F-89FD-203AD644C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8A3A9D-0326-C867-A38C-EF9C6B248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9E53-A463-6949-B000-4DA6C9DCBCD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CAD4E3-FDFB-A9F9-A094-51E37DB4A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98DB36-3543-8652-EA30-C2AF6C246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8955-BCFA-3C42-859C-9B87F090B4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5040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01E6DC-10D5-1EC8-24E3-0F3DD919C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4DF1482-3DB1-160E-A98A-7ACF71283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624229-E6F3-7DD8-A372-3FAE9A63D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C15A09-42D3-CA2F-4913-9E8043CE0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9E53-A463-6949-B000-4DA6C9DCBCD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087527-8C98-5441-E2CB-7115521F3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76D826-CED8-1414-65CE-D8E9E946C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8955-BCFA-3C42-859C-9B87F090B4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1514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756DC5-52C6-4FC4-4BCA-6E3C58AF9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297CDA-39D7-E40F-0470-B14D96F30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2311A9-73C7-271E-54F7-A5DAC07A1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9E53-A463-6949-B000-4DA6C9DCBCD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BED15E-EFB0-F3FB-E74D-FABEC29F4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EDD72E-3484-5531-37E7-4B24139CF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8955-BCFA-3C42-859C-9B87F090B4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7142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F0E9894-760F-CA23-9130-AD18633763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BC54C7-D145-44C9-4F11-56BB7C992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6AA777-D90C-A096-E3DA-7DA37A5EE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9E53-A463-6949-B000-4DA6C9DCBCD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BF8342-02F2-261E-A545-BC892407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BD0AB0-E8D5-5463-AE96-308EB13B2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8955-BCFA-3C42-859C-9B87F090B4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0064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A8559CC-E10D-2DB8-8B63-9366ACF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0CAB50-E0E0-1635-4D7D-7EB74A7F1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E8A30E-6815-50AE-C6C4-7B13539BAF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D19E53-A463-6949-B000-4DA6C9DCBCD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27E5-AADC-2AF5-BF5E-E25653EAE3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DFFC7A-3C97-9492-CA21-611F06E6AE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778955-BCFA-3C42-859C-9B87F090B4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361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2613B7-691C-13EE-981A-BA82BB706B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zh-CN" b="1" dirty="0"/>
              <a:t>实验一：基于卷积神经网络的 MNIST 手写数字分类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31C013C-9723-4C32-D660-0C39ADABC6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zh-CN" dirty="0"/>
              <a:t>朱立景 2025E8013282177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0419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AE0B41-0F3A-1BEB-1A01-6CEA587AF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概述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D1EF2B-8AC2-7EBB-64E6-62D6765C7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zh-CN" sz="2400" dirty="0"/>
              <a:t>本实验旨在利用卷积神经网络（Convolutional Neural Network, CNN）对 MNIST 手写数字数据集进行 0–9 共 10 类分类。MNIST 是深度学习领域最经典的入门基准数据集之一，任务目标是在测试集上达到较高的分类准确率。</a:t>
            </a:r>
          </a:p>
          <a:p>
            <a:r>
              <a:rPr lang="zh-CN" altLang="zh-CN" sz="2400" b="1" dirty="0"/>
              <a:t>任务定义：</a:t>
            </a:r>
            <a:r>
              <a:rPr lang="zh-CN" altLang="zh-CN" sz="2400" dirty="0"/>
              <a:t> 给定一张 28×28 的灰度手写数字图像，预测其对应的数字类别（0–9）。</a:t>
            </a:r>
          </a:p>
          <a:p>
            <a:r>
              <a:rPr lang="zh-CN" altLang="zh-CN" sz="2400" b="1" dirty="0"/>
              <a:t>数据集：</a:t>
            </a:r>
            <a:r>
              <a:rPr lang="zh-CN" altLang="zh-CN" sz="2400" dirty="0"/>
              <a:t> MNIST，包含 60,000 张训练图像和 10,000 张测试图像，共 10 个类别，每类样本分布均衡。</a:t>
            </a:r>
          </a:p>
          <a:p>
            <a:r>
              <a:rPr lang="zh-CN" altLang="zh-CN" sz="2400" b="1" dirty="0"/>
              <a:t>解决方案：</a:t>
            </a:r>
            <a:r>
              <a:rPr lang="zh-CN" altLang="zh-CN" sz="2400" dirty="0"/>
              <a:t> 设计一个由两层卷积特征提取模块和全连接分类头组成的 CNN 网络，采用交叉熵损失函数与 Adam 优化器进行端到端训练，并配合 BatchNorm、Dropout、数据增强与学习率衰减等策略提升泛化能力。</a:t>
            </a:r>
          </a:p>
          <a:p>
            <a:r>
              <a:rPr lang="zh-CN" altLang="zh-CN" sz="2400" b="1" dirty="0"/>
              <a:t>实验目标：</a:t>
            </a:r>
            <a:r>
              <a:rPr lang="zh-CN" altLang="zh-CN" sz="2400" dirty="0"/>
              <a:t> 测试集分类准确率达到 98% 及以上。</a:t>
            </a:r>
          </a:p>
          <a:p>
            <a:r>
              <a:rPr lang="zh-CN" altLang="zh-CN" sz="2400" b="1" dirty="0"/>
              <a:t>运行环境：</a:t>
            </a:r>
            <a:r>
              <a:rPr lang="zh-CN" altLang="zh-CN" sz="2400" dirty="0"/>
              <a:t> Conda，Python 3.10，PyTorch 2.5.1 + CUDA，NVIDIA A800 GPU。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2559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7ABD41-977C-D691-14CE-1CAFDD4AB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解决方案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DF1137-E6C7-8F68-7E94-31011ABB6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/>
              <a:t>网络结构设计</a:t>
            </a:r>
          </a:p>
          <a:p>
            <a:r>
              <a:rPr lang="zh-CN" altLang="zh-CN" dirty="0"/>
              <a:t>网络整体采用「特征提取 + 分类头」的两段式结构，参数量约 167 万。特征提取部分由两个卷积块组成，每个卷积块包含两个 ConvBlock（卷积 + 批归一化 + ReLU）、一次最大池化和一次 Dropout；分类头将特征图展平后，经 512 维全连接层映射到 10 类输出。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3180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F14299C4-13F2-602D-C32B-6DFDFA137B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0133342"/>
              </p:ext>
            </p:extLst>
          </p:nvPr>
        </p:nvGraphicFramePr>
        <p:xfrm>
          <a:off x="1027967" y="3166904"/>
          <a:ext cx="10136066" cy="2222808"/>
        </p:xfrm>
        <a:graphic>
          <a:graphicData uri="http://schemas.openxmlformats.org/drawingml/2006/table">
            <a:tbl>
              <a:tblPr/>
              <a:tblGrid>
                <a:gridCol w="5068033">
                  <a:extLst>
                    <a:ext uri="{9D8B030D-6E8A-4147-A177-3AD203B41FA5}">
                      <a16:colId xmlns:a16="http://schemas.microsoft.com/office/drawing/2014/main" val="2797293561"/>
                    </a:ext>
                  </a:extLst>
                </a:gridCol>
                <a:gridCol w="5068033">
                  <a:extLst>
                    <a:ext uri="{9D8B030D-6E8A-4147-A177-3AD203B41FA5}">
                      <a16:colId xmlns:a16="http://schemas.microsoft.com/office/drawing/2014/main" val="315157804"/>
                    </a:ext>
                  </a:extLst>
                </a:gridCol>
              </a:tblGrid>
              <a:tr h="370468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组件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A0D2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D6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D2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作用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C0D6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D6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D6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143451"/>
                  </a:ext>
                </a:extLst>
              </a:tr>
              <a:tr h="370468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3×3 卷积 + padding=1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保持空间分辨率，逐层提取局部纹理特征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882844"/>
                  </a:ext>
                </a:extLst>
              </a:tr>
              <a:tr h="370468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BatchNorm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加速收敛，缓解内部协变量偏移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589354"/>
                  </a:ext>
                </a:extLst>
              </a:tr>
              <a:tr h="370468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MaxPool2d(2)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降采样，扩大感受野，减少参数量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094781"/>
                  </a:ext>
                </a:extLst>
              </a:tr>
              <a:tr h="370468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Dropout2d(0.25) / Dropout(0.5)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抑制过拟合，增强泛化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816899"/>
                  </a:ext>
                </a:extLst>
              </a:tr>
              <a:tr h="370468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bias=False（卷积层）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与 BatchNorm 配合，减少冗余参数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305712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70CC59B2-103A-9F88-DCE3-7DFE7D9BB922}"/>
              </a:ext>
            </a:extLst>
          </p:cNvPr>
          <p:cNvSpPr txBox="1"/>
          <p:nvPr/>
        </p:nvSpPr>
        <p:spPr>
          <a:xfrm>
            <a:off x="1027967" y="1318819"/>
            <a:ext cx="60974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i="0" dirty="0">
                <a:effectLst/>
                <a:latin typeface="Helvetica Neue" panose="02000503000000020004" pitchFamily="2" charset="0"/>
              </a:rPr>
              <a:t>设计要点：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49394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1AE0DA-F855-4413-4DF1-D43E902E1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2711"/>
            <a:ext cx="10515600" cy="3912577"/>
          </a:xfrm>
        </p:spPr>
        <p:txBody>
          <a:bodyPr/>
          <a:lstStyle/>
          <a:p>
            <a:r>
              <a:rPr lang="zh-CN" altLang="zh-CN" sz="2400" b="1" dirty="0"/>
              <a:t>损失函数</a:t>
            </a:r>
            <a:r>
              <a:rPr lang="zh-CN" altLang="en-US" sz="2400" b="1" dirty="0"/>
              <a:t>：</a:t>
            </a:r>
            <a:r>
              <a:rPr lang="zh-CN" altLang="zh-CN" sz="2400" dirty="0"/>
              <a:t>采用多分类任务中最常用的</a:t>
            </a:r>
            <a:r>
              <a:rPr lang="zh-CN" altLang="zh-CN" sz="2400" b="1" dirty="0"/>
              <a:t>交叉熵损失函数</a:t>
            </a:r>
            <a:r>
              <a:rPr lang="zh-CN" altLang="zh-CN" sz="2400" dirty="0"/>
              <a:t>（CrossEntropyLoss）。该损失函数内部集成了 Softmax 与负对数似然（NLL），直接对网络输出的 logits 与真实标签计算损失，数值稳定且梯度表达清晰。</a:t>
            </a:r>
            <a:endParaRPr lang="en-US" altLang="zh-CN" sz="2400" dirty="0"/>
          </a:p>
          <a:p>
            <a:r>
              <a:rPr lang="zh-CN" altLang="zh-CN" sz="2400" b="1" dirty="0"/>
              <a:t>优化器</a:t>
            </a:r>
            <a:r>
              <a:rPr lang="zh-CN" altLang="en-US" sz="2400" b="1" dirty="0"/>
              <a:t>：</a:t>
            </a:r>
            <a:r>
              <a:rPr lang="zh-CN" altLang="zh-CN" sz="2400" dirty="0"/>
              <a:t>采用 </a:t>
            </a:r>
            <a:r>
              <a:rPr lang="zh-CN" altLang="zh-CN" sz="2400" b="1" dirty="0"/>
              <a:t>Adam 优化器</a:t>
            </a:r>
            <a:r>
              <a:rPr lang="zh-CN" altLang="zh-CN" sz="2400" dirty="0"/>
              <a:t>，初始学习率设为 1e-3，兼顾收敛速度与训练稳定性。同时配合 </a:t>
            </a:r>
            <a:r>
              <a:rPr lang="zh-CN" altLang="zh-CN" sz="2400" b="1" dirty="0"/>
              <a:t>StepLR 学习率调度器</a:t>
            </a:r>
            <a:r>
              <a:rPr lang="zh-CN" altLang="zh-CN" sz="2400" dirty="0"/>
              <a:t>，每 5 个 epoch 将学习率衰减为原来的 0.5 倍，使训练后期能以更小的步长精细调整参数。</a:t>
            </a:r>
            <a:endParaRPr lang="en-US" altLang="zh-CN" sz="2400" dirty="0"/>
          </a:p>
          <a:p>
            <a:r>
              <a:rPr lang="zh-CN" altLang="zh-CN" sz="2400" b="1" dirty="0"/>
              <a:t>数据预处理</a:t>
            </a:r>
            <a:endParaRPr lang="en-US" altLang="zh-CN" sz="2400" b="1" dirty="0"/>
          </a:p>
          <a:p>
            <a:pPr lvl="1"/>
            <a:r>
              <a:rPr lang="zh-CN" altLang="zh-CN" sz="2000" b="1" dirty="0"/>
              <a:t>训练集：</a:t>
            </a:r>
            <a:r>
              <a:rPr lang="zh-CN" altLang="zh-CN" sz="2000" dirty="0"/>
              <a:t> 随机旋转 ±10° 数据增强 → 转 Tensor → 按 MNIST 官方均值/标准差归一化</a:t>
            </a:r>
          </a:p>
          <a:p>
            <a:pPr lvl="1"/>
            <a:r>
              <a:rPr lang="zh-CN" altLang="zh-CN" sz="2000" b="1" dirty="0"/>
              <a:t>测试集：</a:t>
            </a:r>
            <a:r>
              <a:rPr lang="zh-CN" altLang="zh-CN" sz="2000" dirty="0"/>
              <a:t> 仅做 Tensor 转换与归一化，不做增强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4346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DB058-323E-4529-281A-880AF25D6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创新点与工程优化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A733BA-9644-C93A-67DB-0BE464641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400" b="1" dirty="0"/>
              <a:t>模块化 ConvBlock：</a:t>
            </a:r>
            <a:r>
              <a:rPr lang="zh-CN" altLang="zh-CN" sz="2400" dirty="0"/>
              <a:t> 将「Conv → BN → ReLU」封装为可复用模块，结构清晰、便于扩展。</a:t>
            </a:r>
          </a:p>
          <a:p>
            <a:r>
              <a:rPr lang="zh-CN" altLang="zh-CN" sz="2400" b="1" dirty="0"/>
              <a:t>分层 Dropout 策略：</a:t>
            </a:r>
            <a:r>
              <a:rPr lang="zh-CN" altLang="zh-CN" sz="2400" dirty="0"/>
              <a:t> 卷积层使用 Dropout2d(0.25)，全连接层使用 Dropout(0.5)，针对不同层级采用不同强度的正则化。</a:t>
            </a:r>
          </a:p>
          <a:p>
            <a:r>
              <a:rPr lang="zh-CN" altLang="zh-CN" sz="2400" b="1" dirty="0"/>
              <a:t>轻量数据增强：</a:t>
            </a:r>
            <a:r>
              <a:rPr lang="zh-CN" altLang="zh-CN" sz="2400" dirty="0"/>
              <a:t> 仅对训练集施加 ±10° 随机旋转，在不显著改变数字形态的前提下提升模型对旋转扰动的鲁棒性。</a:t>
            </a:r>
          </a:p>
          <a:p>
            <a:r>
              <a:rPr lang="zh-CN" altLang="zh-CN" sz="2400" b="1" dirty="0"/>
              <a:t>最优模型保存：</a:t>
            </a:r>
            <a:r>
              <a:rPr lang="zh-CN" altLang="zh-CN" sz="2400" dirty="0"/>
              <a:t> 训练过程中持续跟踪测试集准确率，自动保存表现最好的 checkpoint，避免过拟合后期性能回退的影响。</a:t>
            </a:r>
          </a:p>
        </p:txBody>
      </p:sp>
    </p:spTree>
    <p:extLst>
      <p:ext uri="{BB962C8B-B14F-4D97-AF65-F5344CB8AC3E}">
        <p14:creationId xmlns:p14="http://schemas.microsoft.com/office/powerpoint/2010/main" val="999705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BFD804-77B0-08AD-47DD-6BEBD92C6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实验分析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1C62FC-613F-B9A2-31B9-FB45E3EAE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 dirty="0"/>
              <a:t>在 ocr 环境（CUDA GPU）下完成 12 个 epoch 的训练，完整日志如下：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C551B9-252E-37DC-097A-E01069A2F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727" y="2805245"/>
            <a:ext cx="5014546" cy="324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78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371413-D75F-BE36-0DD2-3964BD1AD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zh-CN" sz="2400" b="1" dirty="0"/>
              <a:t>收敛速度</a:t>
            </a:r>
            <a:r>
              <a:rPr lang="zh-CN" altLang="en-US" sz="2400" b="1" dirty="0"/>
              <a:t>：</a:t>
            </a:r>
            <a:r>
              <a:rPr lang="zh-CN" altLang="zh-CN" sz="2400" dirty="0"/>
              <a:t>模型在第 1 个 epoch 结束时测试准确率即达到 </a:t>
            </a:r>
            <a:r>
              <a:rPr lang="zh-CN" altLang="zh-CN" sz="2400" b="1" dirty="0"/>
              <a:t>99.01%</a:t>
            </a:r>
            <a:r>
              <a:rPr lang="zh-CN" altLang="zh-CN" sz="2400" dirty="0"/>
              <a:t>，已超过 98% 的实验目标，说明网络结构对 MNIST 任务是充分有效的。前 4 个 epoch 训练损失从 0.1549 快速下降至 0.0444，体现出 Adam 优化器与 BatchNorm 的良好配合。</a:t>
            </a:r>
          </a:p>
          <a:p>
            <a:r>
              <a:rPr lang="zh-CN" altLang="zh-CN" sz="2400" b="1" dirty="0"/>
              <a:t>最佳性能</a:t>
            </a:r>
            <a:r>
              <a:rPr lang="zh-CN" altLang="en-US" sz="2400" b="1" dirty="0"/>
              <a:t>：</a:t>
            </a:r>
            <a:r>
              <a:rPr lang="zh-CN" altLang="zh-CN" sz="2400" dirty="0"/>
              <a:t>最佳测试准确率为 </a:t>
            </a:r>
            <a:r>
              <a:rPr lang="zh-CN" altLang="zh-CN" sz="2400" b="1" dirty="0"/>
              <a:t>99.60%</a:t>
            </a:r>
            <a:r>
              <a:rPr lang="zh-CN" altLang="zh-CN" sz="2400" dirty="0"/>
              <a:t>（第 7 个 epoch），对应测试损失 0.0122。在 10,000 张测试图像中仅约 40 张分类错误，表现优异。</a:t>
            </a:r>
          </a:p>
          <a:p>
            <a:r>
              <a:rPr lang="zh-CN" altLang="zh-CN" sz="2400" b="1" dirty="0"/>
              <a:t>过拟合与泛化</a:t>
            </a:r>
            <a:r>
              <a:rPr lang="zh-CN" altLang="en-US" sz="2400" b="1" dirty="0"/>
              <a:t>：</a:t>
            </a:r>
            <a:r>
              <a:rPr lang="zh-CN" altLang="zh-CN" sz="2400" dirty="0"/>
              <a:t>训练过程中训练损失持续下降（0.1549 → 0.0175），而测试准确率在 99.49%–99.60% 之间小幅波动，未出现测试性能明显恶化的过拟合现象。Dropout 与数据增强起到了有效的正则化作用。第 5 个 epoch 后学习率减半，测试损失进一步降低，验证了学习率调度策略的有效性。</a:t>
            </a:r>
          </a:p>
        </p:txBody>
      </p:sp>
    </p:spTree>
    <p:extLst>
      <p:ext uri="{BB962C8B-B14F-4D97-AF65-F5344CB8AC3E}">
        <p14:creationId xmlns:p14="http://schemas.microsoft.com/office/powerpoint/2010/main" val="766570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86F345-6CB1-9811-8877-51D3C57E8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9AF6F5-533A-6E37-513D-B5E9B8273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本实验成功设计并实现了一个面向 MNIST 手写数字分类的卷积神经网络。通过两层卷积特征提取（ConvBlock + MaxPool + Dropout）与全连接分类头的组合，配合交叉熵损失、Adam 优化器、学习率衰减及轻量数据增强，在 12 个 epoch 内将测试集准确率提升至 </a:t>
            </a:r>
            <a:r>
              <a:rPr lang="zh-CN" altLang="zh-CN" b="1" dirty="0"/>
              <a:t>99.60%</a:t>
            </a:r>
            <a:r>
              <a:rPr lang="zh-CN" altLang="zh-CN" dirty="0"/>
              <a:t>，显著超过 98% 的实验目标。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8780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937</Words>
  <Application>Microsoft Macintosh PowerPoint</Application>
  <PresentationFormat>宽屏</PresentationFormat>
  <Paragraphs>42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Arial</vt:lpstr>
      <vt:lpstr>Helvetica Neue</vt:lpstr>
      <vt:lpstr>Office 主题​​</vt:lpstr>
      <vt:lpstr>实验一：基于卷积神经网络的 MNIST 手写数字分类</vt:lpstr>
      <vt:lpstr>概述</vt:lpstr>
      <vt:lpstr>解决方案</vt:lpstr>
      <vt:lpstr>PowerPoint 演示文稿</vt:lpstr>
      <vt:lpstr>PowerPoint 演示文稿</vt:lpstr>
      <vt:lpstr>创新点与工程优化</vt:lpstr>
      <vt:lpstr>实验分析</vt:lpstr>
      <vt:lpstr>PowerPoint 演示文稿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立景 朱</dc:creator>
  <cp:lastModifiedBy>立景 朱</cp:lastModifiedBy>
  <cp:revision>1</cp:revision>
  <dcterms:created xsi:type="dcterms:W3CDTF">2026-06-19T11:49:26Z</dcterms:created>
  <dcterms:modified xsi:type="dcterms:W3CDTF">2026-06-19T11:59:19Z</dcterms:modified>
</cp:coreProperties>
</file>