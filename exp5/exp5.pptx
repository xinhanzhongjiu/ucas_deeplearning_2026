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67"/>
  </p:normalViewPr>
  <p:slideViewPr>
    <p:cSldViewPr snapToGrid="0">
      <p:cViewPr varScale="1">
        <p:scale>
          <a:sx n="145" d="100"/>
          <a:sy n="145" d="100"/>
        </p:scale>
        <p:origin x="11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E7EE54-5691-C350-A35F-ED48A7472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9DA0B7-56F9-61D3-7AB3-32D26177A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1BB13E-0E94-2002-1E6C-814E8D6E1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230E-34BA-814F-A2BB-610DF72D28DC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A8FF12-9B26-3909-164A-C0B51B0FB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3DED55-6661-BA78-40F8-FF4BF40F6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A53C-6C1B-5F43-9E6C-67C4BAFDB3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069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FE3D0D-8877-0C31-5FDC-ED5E2D8F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BBE601-1113-6248-3563-5B53AB6A3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428F94-ADE1-D5DC-B9C6-D58CD3A6C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230E-34BA-814F-A2BB-610DF72D28DC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0EBEB6-F617-B174-2751-01702896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C258A7-4AE2-8B54-AB79-4599E7CDC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A53C-6C1B-5F43-9E6C-67C4BAFDB3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8136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355BB5-41F0-E01E-8535-C1C27B8EB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20CE5A-96C7-2AAB-134C-08EF2FE15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E70564-5D44-C529-7B5B-9A09D67D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230E-34BA-814F-A2BB-610DF72D28DC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8651FB-38AC-CE8F-AF3B-D3101589F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970505-5BCF-BD82-73ED-F911B7AAC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A53C-6C1B-5F43-9E6C-67C4BAFDB3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0349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5972D-E7C1-9D3F-D416-2C262E26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7E0140-A135-228E-FFB2-BCE8E888BD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1CE796-D95C-8CE2-356E-0AE519A67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5FB9B8-A822-58CA-DE41-2642C0C1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230E-34BA-814F-A2BB-610DF72D28DC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A479B6-EB13-E8ED-2E96-3BE664795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89B26F-A538-05E9-3D27-AA5B12EA4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A53C-6C1B-5F43-9E6C-67C4BAFDB3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2754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FC601-1A18-3858-F1CA-4EA77CD19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D74D03-6A91-0863-3CA7-0CD071165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D0044F-0467-E901-4558-EBA955EC7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C2B799-EF9A-974A-56C7-97E155D20D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D172E99-DADA-0DE1-91B1-8F659AD087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E70E82A-DE6F-9449-F4F4-6620CDA9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230E-34BA-814F-A2BB-610DF72D28DC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E613F24-1992-F98A-12AB-0393217D4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4D00C5E-0736-CB65-8687-E278AEFEA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A53C-6C1B-5F43-9E6C-67C4BAFDB3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6345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BFC23D-648E-0155-446D-DFA29DBB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64F20BE-D5E7-7F3B-1D6C-61327867E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230E-34BA-814F-A2BB-610DF72D28DC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0B4AC6-95EF-699E-2B91-12F273AFD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AA11FA-A3EA-E8EA-5199-F6665253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A53C-6C1B-5F43-9E6C-67C4BAFDB3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9940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3D752A-24FB-61F0-E23E-A9207A68D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230E-34BA-814F-A2BB-610DF72D28DC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1C16875-11D4-7512-BD46-B3C49CC8D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00B9D7-EBB2-832B-2E13-BE3983FF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A53C-6C1B-5F43-9E6C-67C4BAFDB3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5556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69EF7-EA93-226D-84B7-EC37BD602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488BFA-F6D9-F52B-C751-9068F03B9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C381B1-A13B-104E-F185-97B5D7337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AC1659-6E0B-4490-A5D3-AE4E1379A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230E-34BA-814F-A2BB-610DF72D28DC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B95B46-3A1D-81F3-C467-7F043242D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934C00-B17E-3C4F-4CC5-D80FE7AE4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A53C-6C1B-5F43-9E6C-67C4BAFDB3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5339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1BBCF-79D9-A745-7F0C-AFA6741CF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501FC28-0BFE-AE25-B021-DD568A4A59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344DCD-7E5B-7BDB-97D0-87C758621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1BB40A-8E85-0DC5-7DE3-C0C6BD05A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230E-34BA-814F-A2BB-610DF72D28DC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A0E8FA-B40F-DF64-0B7D-D2DA3FD91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C8788C-B9BF-9271-9E33-D677C3E46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A53C-6C1B-5F43-9E6C-67C4BAFDB3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6062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45389C-A893-0CE3-DA3B-AB2D7B685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918886-CDAA-5B16-2436-1B32B2B66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2818D8-721E-7E77-9DEF-3D73421C3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230E-34BA-814F-A2BB-610DF72D28DC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5C5E0A-F963-35F8-8AC3-86F0AEF2E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28B8F7-9EF1-E719-EBD6-10BAF1408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A53C-6C1B-5F43-9E6C-67C4BAFDB3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6519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9CA6A1B-894E-AE25-1E09-A2DE48E93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966D51-8A13-DA31-808F-CF2DF6E6C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61B70E-8D32-AF36-B98C-822C70653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D230E-34BA-814F-A2BB-610DF72D28DC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FB163C-E48D-B481-7F96-775DF1155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056BA0-A1E2-470F-732C-66A5455AB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6A53C-6C1B-5F43-9E6C-67C4BAFDB3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086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B45433B-9D43-591C-CA99-B78768E3E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C6B29A-BCBD-E2CB-8C87-4B1B25E24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459470-533E-8753-76E3-208A9C0A2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FD230E-34BA-814F-A2BB-610DF72D28DC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FD001B-5CDF-D092-AB9D-A4BE6F4C7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460C4B-54C9-747C-51C6-16E9A2EB6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E6A53C-6C1B-5F43-9E6C-67C4BAFDB3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3977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xinhanzhongjiu/UCAS_DeepLearning_2026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C42EF3-5060-3A5B-0E60-045F452472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b="1" dirty="0"/>
              <a:t>实验五：基于 YOLOv5 的 PASCAL VOC 目标检测微调与评估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CF4951-6ACF-C6F0-16A0-DAE6362E9D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zh-CN" dirty="0"/>
              <a:t>小组成员：朱立景、徐康晴、吕正大</a:t>
            </a:r>
            <a:br>
              <a:rPr lang="en-US" altLang="zh-CN" dirty="0"/>
            </a:br>
            <a:r>
              <a:rPr lang="zh-CN" altLang="zh-CN" dirty="0"/>
              <a:t>实验代码仓库：</a:t>
            </a:r>
            <a:r>
              <a:rPr lang="zh-CN" altLang="zh-CN" u="sng" dirty="0">
                <a:hlinkClick r:id="rId2"/>
              </a:rPr>
              <a:t>https://github.com/xinhanzhongjiu/UCAS_DeepLearning_2026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8666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A872F2-5D18-BCBF-87BE-0B7209E4B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概述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13E195-9AF4-6C43-2198-DDF84F74A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9847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zh-CN" sz="2400" b="1" dirty="0"/>
              <a:t>1.1 任务背景</a:t>
            </a:r>
            <a:r>
              <a:rPr lang="zh-CN" altLang="en-US" sz="2400" b="1" dirty="0"/>
              <a:t>：</a:t>
            </a:r>
            <a:r>
              <a:rPr lang="zh-CN" altLang="zh-CN" sz="2400" dirty="0"/>
              <a:t>本实验旨在利用深度学习目标检测模型 </a:t>
            </a:r>
            <a:r>
              <a:rPr lang="zh-CN" altLang="zh-CN" sz="2400" b="1" dirty="0"/>
              <a:t>YOLOv5s</a:t>
            </a:r>
            <a:r>
              <a:rPr lang="zh-CN" altLang="zh-CN" sz="2400" dirty="0"/>
              <a:t>，在公开数据集 </a:t>
            </a:r>
            <a:r>
              <a:rPr lang="zh-CN" altLang="zh-CN" sz="2400" b="1" dirty="0"/>
              <a:t>PASCAL VOC</a:t>
            </a:r>
            <a:r>
              <a:rPr lang="zh-CN" altLang="zh-CN" sz="2400" dirty="0"/>
              <a:t> 上进行</a:t>
            </a:r>
            <a:r>
              <a:rPr lang="zh-CN" altLang="zh-CN" sz="2400" b="1" dirty="0"/>
              <a:t>迁移学习（微调）</a:t>
            </a:r>
            <a:r>
              <a:rPr lang="zh-CN" altLang="zh-CN" sz="2400" dirty="0"/>
              <a:t>，使在 COCO 数据集上预训练的通用检测器适配 VOC 的 20 类目标检测任务，并系统评估微调前后模型在精度、召回率、F1 分数及 mAP 等指标上的变化。</a:t>
            </a:r>
          </a:p>
          <a:p>
            <a:r>
              <a:rPr lang="zh-CN" altLang="zh-CN" sz="2400" b="1" dirty="0"/>
              <a:t>1.2 数据集</a:t>
            </a:r>
            <a:r>
              <a:rPr lang="zh-CN" altLang="en-US" sz="2400" b="1" dirty="0"/>
              <a:t>：</a:t>
            </a:r>
            <a:r>
              <a:rPr lang="zh-CN" altLang="zh-CN" sz="2400" dirty="0"/>
              <a:t>采用 </a:t>
            </a:r>
            <a:r>
              <a:rPr lang="zh-CN" altLang="zh-CN" sz="2400" b="1" dirty="0"/>
              <a:t>PASCAL VOC 2007 + 2012</a:t>
            </a:r>
            <a:r>
              <a:rPr lang="zh-CN" altLang="zh-CN" sz="2400" dirty="0"/>
              <a:t> 合并数据集，共 20 个类别（人、车、动物、家具等日常物体）。训练集约 </a:t>
            </a:r>
            <a:r>
              <a:rPr lang="zh-CN" altLang="zh-CN" sz="2400" b="1" dirty="0"/>
              <a:t>16,551</a:t>
            </a:r>
            <a:r>
              <a:rPr lang="zh-CN" altLang="zh-CN" sz="2400" dirty="0"/>
              <a:t> 张图像，测试集 </a:t>
            </a:r>
            <a:r>
              <a:rPr lang="zh-CN" altLang="zh-CN" sz="2400" b="1" dirty="0"/>
              <a:t>4,952</a:t>
            </a:r>
            <a:r>
              <a:rPr lang="zh-CN" altLang="zh-CN" sz="2400" dirty="0"/>
              <a:t> 张（test2007），标注格式转换为 YOLO 所需的归一化边界框。</a:t>
            </a:r>
          </a:p>
          <a:p>
            <a:r>
              <a:rPr lang="zh-CN" altLang="zh-CN" sz="2400" b="1" dirty="0"/>
              <a:t>解决方案概要</a:t>
            </a:r>
            <a:endParaRPr lang="en-US" altLang="zh-CN" sz="2400" b="1" dirty="0"/>
          </a:p>
          <a:p>
            <a:endParaRPr kumimoji="1" lang="zh-CN" altLang="en-US" sz="20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2C8C259-C2B3-F5EE-4680-5D6EA5B9A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616615"/>
              </p:ext>
            </p:extLst>
          </p:nvPr>
        </p:nvGraphicFramePr>
        <p:xfrm>
          <a:off x="1504950" y="4351338"/>
          <a:ext cx="9182100" cy="2373630"/>
        </p:xfrm>
        <a:graphic>
          <a:graphicData uri="http://schemas.openxmlformats.org/drawingml/2006/table">
            <a:tbl>
              <a:tblPr/>
              <a:tblGrid>
                <a:gridCol w="4591050">
                  <a:extLst>
                    <a:ext uri="{9D8B030D-6E8A-4147-A177-3AD203B41FA5}">
                      <a16:colId xmlns:a16="http://schemas.microsoft.com/office/drawing/2014/main" val="3170693440"/>
                    </a:ext>
                  </a:extLst>
                </a:gridCol>
                <a:gridCol w="4591050">
                  <a:extLst>
                    <a:ext uri="{9D8B030D-6E8A-4147-A177-3AD203B41FA5}">
                      <a16:colId xmlns:a16="http://schemas.microsoft.com/office/drawing/2014/main" val="12090221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模块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C0B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94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B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方案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E094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94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94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796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基础模型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YOLOv5s（COCO 预训练，</a:t>
                      </a: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Monaco" pitchFamily="2" charset="0"/>
                        </a:rPr>
                        <a:t>yolov5s.pt</a:t>
                      </a: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）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4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实验 A（Baseline）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默认低增强超参 </a:t>
                      </a: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Monaco" pitchFamily="2" charset="0"/>
                        </a:rPr>
                        <a:t>hyp.scratch-low.yaml</a:t>
                      </a: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，lr=0.01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623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实验 B（调优）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自定义 </a:t>
                      </a: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Monaco" pitchFamily="2" charset="0"/>
                        </a:rPr>
                        <a:t>hyp.voc_finetune.yaml</a:t>
                      </a: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，低学习率 + 部分冻结 backbone + mixup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983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训练策略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50 epoch，batch=32，输入 640×640，SGD 优化器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705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评估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Monaco" pitchFamily="2" charset="0"/>
                        </a:rPr>
                        <a:t>val.py</a:t>
                      </a: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 计算 P/R/F1/mAP；</a:t>
                      </a: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Monaco" pitchFamily="2" charset="0"/>
                        </a:rPr>
                        <a:t>detect.py</a:t>
                      </a: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 批量可视化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600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分析工具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自研 </a:t>
                      </a: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Monaco" pitchFamily="2" charset="0"/>
                        </a:rPr>
                        <a:t>analyze_results.py</a:t>
                      </a: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 对比训练曲线与指标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512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0535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2E0FA-6ADB-75C4-495C-FEB2CF43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网络结构设计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2779D5-E59D-7729-12CB-5415D0EA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本实验采用 </a:t>
            </a:r>
            <a:r>
              <a:rPr lang="zh-CN" altLang="zh-CN" b="1" dirty="0"/>
              <a:t>YOLOv5s</a:t>
            </a:r>
            <a:r>
              <a:rPr lang="zh-CN" altLang="zh-CN" dirty="0"/>
              <a:t> 作为检测骨干，属于单阶段（One-Stage）Anchor-Based 检测器。网络由 </a:t>
            </a:r>
            <a:r>
              <a:rPr lang="zh-CN" altLang="zh-CN" b="1" dirty="0"/>
              <a:t>Backbone + Neck（FPN/PAN）+ Head（Detect）</a:t>
            </a:r>
            <a:r>
              <a:rPr lang="zh-CN" altLang="zh-CN" dirty="0"/>
              <a:t> 三部分组成，在三个尺度（P3/8、P4/16、P5/32）上进行多尺度预测。</a:t>
            </a:r>
          </a:p>
          <a:p>
            <a:r>
              <a:rPr lang="zh-CN" altLang="zh-CN" b="1" dirty="0"/>
              <a:t>结构要点：</a:t>
            </a:r>
            <a:endParaRPr lang="zh-CN" altLang="zh-CN" dirty="0"/>
          </a:p>
          <a:p>
            <a:pPr lvl="1"/>
            <a:r>
              <a:rPr lang="zh-CN" altLang="zh-CN" b="1" dirty="0"/>
              <a:t>Backbone</a:t>
            </a:r>
            <a:r>
              <a:rPr lang="zh-CN" altLang="zh-CN" dirty="0"/>
              <a:t>：CSPDarknet 风格，含 Conv、C3（Cross Stage Partial）、SPPF 模块，逐层下采样提取特征</a:t>
            </a:r>
          </a:p>
          <a:p>
            <a:pPr lvl="1"/>
            <a:r>
              <a:rPr lang="zh-CN" altLang="zh-CN" b="1" dirty="0"/>
              <a:t>Neck</a:t>
            </a:r>
            <a:r>
              <a:rPr lang="zh-CN" altLang="zh-CN" dirty="0"/>
              <a:t>：FPN + PAN 结构，通过上采样与 Concat 融合浅层细节与深层语义</a:t>
            </a:r>
          </a:p>
          <a:p>
            <a:pPr lvl="1"/>
            <a:r>
              <a:rPr lang="zh-CN" altLang="zh-CN" b="1" dirty="0"/>
              <a:t>Head</a:t>
            </a:r>
            <a:r>
              <a:rPr lang="zh-CN" altLang="zh-CN" dirty="0"/>
              <a:t>：Detect 层，每个尺度输出 (x, y, w, h, obj, cls×20) 共 25 维（VOC 20 类）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9161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853277-AFB2-8FD1-60AE-E08B6ABA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0383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损失函数与优化器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990C78-DC2A-683E-DFDC-0EFBA49272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8397"/>
                <a:ext cx="10515600" cy="1149900"/>
              </a:xfrm>
            </p:spPr>
            <p:txBody>
              <a:bodyPr/>
              <a:lstStyle/>
              <a:p>
                <a:r>
                  <a:rPr lang="zh-CN" altLang="zh-CN" dirty="0"/>
                  <a:t>YOLOv5 的总损失由三项加权组成：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𝑏𝑜𝑥</m:t>
                          </m:r>
                        </m:sub>
                      </m:sSub>
                      <m:sSub>
                        <m:sSub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𝒷ℴ𝓍</m:t>
                          </m:r>
                        </m:sub>
                      </m:sSub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𝑜𝑏𝑗</m:t>
                          </m:r>
                        </m:sub>
                      </m:sSub>
                      <m:sSub>
                        <m:sSub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ℴ𝒷𝒿</m:t>
                          </m:r>
                        </m:sub>
                      </m:sSub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𝑐𝑙𝑠</m:t>
                          </m:r>
                        </m:sub>
                      </m:sSub>
                      <m:sSub>
                        <m:sSub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𝒸𝓁𝓈</m:t>
                          </m:r>
                        </m:sub>
                      </m:sSub>
                    </m:oMath>
                  </m:oMathPara>
                </a14:m>
              </a:p>
              <a:p>
                <a:endParaRPr kumimoji="1"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990C78-DC2A-683E-DFDC-0EFBA49272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8397"/>
                <a:ext cx="10515600" cy="1149900"/>
              </a:xfrm>
              <a:blipFill>
                <a:blip r:embed="rId2"/>
                <a:stretch>
                  <a:fillRect l="-1086" t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9F0EA01C-B8BD-A709-1B81-625D3D13D8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1330659"/>
                  </p:ext>
                </p:extLst>
              </p:nvPr>
            </p:nvGraphicFramePr>
            <p:xfrm>
              <a:off x="1504950" y="2283226"/>
              <a:ext cx="9182100" cy="1467739"/>
            </p:xfrm>
            <a:graphic>
              <a:graphicData uri="http://schemas.openxmlformats.org/drawingml/2006/table">
                <a:tbl>
                  <a:tblPr/>
                  <a:tblGrid>
                    <a:gridCol w="3060700">
                      <a:extLst>
                        <a:ext uri="{9D8B030D-6E8A-4147-A177-3AD203B41FA5}">
                          <a16:colId xmlns:a16="http://schemas.microsoft.com/office/drawing/2014/main" val="2555887450"/>
                        </a:ext>
                      </a:extLst>
                    </a:gridCol>
                    <a:gridCol w="3060700">
                      <a:extLst>
                        <a:ext uri="{9D8B030D-6E8A-4147-A177-3AD203B41FA5}">
                          <a16:colId xmlns:a16="http://schemas.microsoft.com/office/drawing/2014/main" val="1313310236"/>
                        </a:ext>
                      </a:extLst>
                    </a:gridCol>
                    <a:gridCol w="3060700">
                      <a:extLst>
                        <a:ext uri="{9D8B030D-6E8A-4147-A177-3AD203B41FA5}">
                          <a16:colId xmlns:a16="http://schemas.microsoft.com/office/drawing/2014/main" val="420802424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:r>
                            <a:rPr lang="zh-CN" sz="1400" b="1" i="0" dirty="0">
                              <a:solidFill>
                                <a:schemeClr val="tx1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损失项</a:t>
                          </a:r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C062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A068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062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:r>
                            <a:rPr lang="zh-CN" sz="1400" b="1" i="0">
                              <a:solidFill>
                                <a:schemeClr val="tx1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含义</a:t>
                          </a:r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A068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205A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A068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:r>
                            <a:rPr lang="zh-CN" sz="1400" b="1" i="0">
                              <a:solidFill>
                                <a:schemeClr val="tx1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实现</a:t>
                          </a:r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205A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205A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205A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6884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altLang="en-US" sz="1400" b="0" i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400" b="0" i="1" dirty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ℒ</m:t>
                                    </m:r>
                                  </m:e>
                                  <m:sub>
                                    <m:r>
                                      <a:rPr lang="zh-CN" altLang="en-US" sz="1400" b="0" i="1" dirty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𝒷ℴ𝓍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:r>
                            <a:rPr lang="zh-CN" sz="1400" b="0" i="0">
                              <a:solidFill>
                                <a:schemeClr val="tx1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边界框回归损失</a:t>
                          </a:r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:r>
                            <a:rPr lang="zh-CN" sz="1400" b="0" i="0">
                              <a:solidFill>
                                <a:schemeClr val="tx1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1 - IoU（GIoU/DIoU 形式）</a:t>
                          </a:r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804755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altLang="en-US" sz="1400" b="0" i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400" b="0" i="1" dirty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ℒ</m:t>
                                    </m:r>
                                  </m:e>
                                  <m:sub>
                                    <m:r>
                                      <a:rPr lang="zh-CN" altLang="en-US" sz="1400" b="0" i="1" dirty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ℴ𝒷𝒿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:r>
                            <a:rPr lang="zh-CN" sz="1400" b="0" i="0">
                              <a:solidFill>
                                <a:schemeClr val="tx1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目标置信度损失</a:t>
                          </a:r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:r>
                            <a:rPr lang="zh-CN" sz="1400" b="0" i="0">
                              <a:solidFill>
                                <a:schemeClr val="tx1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BCEWithLogitsLoss</a:t>
                          </a:r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093994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altLang="en-US" sz="1400" b="0" i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400" b="0" i="1" dirty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ℒ</m:t>
                                    </m:r>
                                  </m:e>
                                  <m:sub>
                                    <m:r>
                                      <a:rPr lang="zh-CN" altLang="en-US" sz="1400" b="0" i="1" dirty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𝒸𝓁𝓈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:r>
                            <a:rPr lang="zh-CN" sz="1400" b="0" i="0">
                              <a:solidFill>
                                <a:schemeClr val="tx1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分类损失</a:t>
                          </a:r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:r>
                            <a:rPr lang="zh-CN" sz="1400" b="0" i="0" dirty="0">
                              <a:solidFill>
                                <a:schemeClr val="tx1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BCEWithLogitsLoss（支持 Label Smoothing）</a:t>
                          </a:r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1718901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9F0EA01C-B8BD-A709-1B81-625D3D13D8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1330659"/>
                  </p:ext>
                </p:extLst>
              </p:nvPr>
            </p:nvGraphicFramePr>
            <p:xfrm>
              <a:off x="1504950" y="2283226"/>
              <a:ext cx="9182100" cy="1467739"/>
            </p:xfrm>
            <a:graphic>
              <a:graphicData uri="http://schemas.openxmlformats.org/drawingml/2006/table">
                <a:tbl>
                  <a:tblPr/>
                  <a:tblGrid>
                    <a:gridCol w="3060700">
                      <a:extLst>
                        <a:ext uri="{9D8B030D-6E8A-4147-A177-3AD203B41FA5}">
                          <a16:colId xmlns:a16="http://schemas.microsoft.com/office/drawing/2014/main" val="2555887450"/>
                        </a:ext>
                      </a:extLst>
                    </a:gridCol>
                    <a:gridCol w="3060700">
                      <a:extLst>
                        <a:ext uri="{9D8B030D-6E8A-4147-A177-3AD203B41FA5}">
                          <a16:colId xmlns:a16="http://schemas.microsoft.com/office/drawing/2014/main" val="1313310236"/>
                        </a:ext>
                      </a:extLst>
                    </a:gridCol>
                    <a:gridCol w="3060700">
                      <a:extLst>
                        <a:ext uri="{9D8B030D-6E8A-4147-A177-3AD203B41FA5}">
                          <a16:colId xmlns:a16="http://schemas.microsoft.com/office/drawing/2014/main" val="4208024241"/>
                        </a:ext>
                      </a:extLst>
                    </a:gridCol>
                  </a:tblGrid>
                  <a:tr h="308610"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:r>
                            <a:rPr lang="zh-CN" sz="1400" b="1" i="0" dirty="0">
                              <a:solidFill>
                                <a:schemeClr val="tx1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损失项</a:t>
                          </a:r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C062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A068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062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:r>
                            <a:rPr lang="zh-CN" sz="1400" b="1" i="0">
                              <a:solidFill>
                                <a:schemeClr val="tx1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含义</a:t>
                          </a:r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A068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205A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A068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:r>
                            <a:rPr lang="zh-CN" sz="1400" b="1" i="0">
                              <a:solidFill>
                                <a:schemeClr val="tx1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实现</a:t>
                          </a:r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205A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205A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205A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688447"/>
                      </a:ext>
                    </a:extLst>
                  </a:tr>
                  <a:tr h="30861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4167" r="-20083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:r>
                            <a:rPr lang="zh-CN" sz="1400" b="0" i="0">
                              <a:solidFill>
                                <a:schemeClr val="tx1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边界框回归损失</a:t>
                          </a:r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:r>
                            <a:rPr lang="zh-CN" sz="1400" b="0" i="0">
                              <a:solidFill>
                                <a:schemeClr val="tx1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1 - IoU（GIoU/DIoU 形式）</a:t>
                          </a:r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98047557"/>
                      </a:ext>
                    </a:extLst>
                  </a:tr>
                  <a:tr h="32854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88462" r="-200830" b="-17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:r>
                            <a:rPr lang="zh-CN" sz="1400" b="0" i="0">
                              <a:solidFill>
                                <a:schemeClr val="tx1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目标置信度损失</a:t>
                          </a:r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:r>
                            <a:rPr lang="zh-CN" sz="1400" b="0" i="0">
                              <a:solidFill>
                                <a:schemeClr val="tx1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BCEWithLogitsLoss</a:t>
                          </a:r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0939942"/>
                      </a:ext>
                    </a:extLst>
                  </a:tr>
                  <a:tr h="52197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78571" r="-200830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:r>
                            <a:rPr lang="zh-CN" sz="1400" b="0" i="0">
                              <a:solidFill>
                                <a:schemeClr val="tx1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分类损失</a:t>
                          </a:r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fontAlgn="t">
                            <a:buNone/>
                          </a:pPr>
                          <a:r>
                            <a:rPr lang="zh-CN" sz="1400" b="0" i="0" dirty="0">
                              <a:solidFill>
                                <a:schemeClr val="tx1"/>
                              </a:solidFill>
                              <a:effectLst/>
                              <a:latin typeface="Helvetica Neue" panose="02000503000000020004" pitchFamily="2" charset="0"/>
                            </a:rPr>
                            <a:t>BCEWithLogitsLoss（支持 Label Smoothing）</a:t>
                          </a:r>
                        </a:p>
                      </a:txBody>
                      <a:tcPr marL="95250" marR="95250" marT="47625" marB="47625">
                        <a:lnL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474D5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1718901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2835CA38-5860-A62A-0375-7218CE30E7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803129"/>
                <a:ext cx="10515600" cy="5365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zh-CN" dirty="0"/>
                  <a:t>优化器与学习率设计</a:t>
                </a:r>
                <a14:m/>
              </a:p>
            </p:txBody>
          </p:sp>
        </mc:Choice>
        <mc:Fallback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2835CA38-5860-A62A-0375-7218CE30E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03129"/>
                <a:ext cx="10515600" cy="536575"/>
              </a:xfrm>
              <a:prstGeom prst="rect">
                <a:avLst/>
              </a:prstGeom>
              <a:blipFill>
                <a:blip r:embed="rId4"/>
                <a:stretch>
                  <a:fillRect l="-1086" t="-18605" b="-209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EDA7AA-84E6-AFA2-8F64-CC6395045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805125"/>
              </p:ext>
            </p:extLst>
          </p:nvPr>
        </p:nvGraphicFramePr>
        <p:xfrm>
          <a:off x="1504950" y="4389120"/>
          <a:ext cx="9182100" cy="2468880"/>
        </p:xfrm>
        <a:graphic>
          <a:graphicData uri="http://schemas.openxmlformats.org/drawingml/2006/table">
            <a:tbl>
              <a:tblPr/>
              <a:tblGrid>
                <a:gridCol w="3060700">
                  <a:extLst>
                    <a:ext uri="{9D8B030D-6E8A-4147-A177-3AD203B41FA5}">
                      <a16:colId xmlns:a16="http://schemas.microsoft.com/office/drawing/2014/main" val="4204518427"/>
                    </a:ext>
                  </a:extLst>
                </a:gridCol>
                <a:gridCol w="3060700">
                  <a:extLst>
                    <a:ext uri="{9D8B030D-6E8A-4147-A177-3AD203B41FA5}">
                      <a16:colId xmlns:a16="http://schemas.microsoft.com/office/drawing/2014/main" val="278306871"/>
                    </a:ext>
                  </a:extLst>
                </a:gridCol>
                <a:gridCol w="3060700">
                  <a:extLst>
                    <a:ext uri="{9D8B030D-6E8A-4147-A177-3AD203B41FA5}">
                      <a16:colId xmlns:a16="http://schemas.microsoft.com/office/drawing/2014/main" val="5630642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配置项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607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5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7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Baseline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A05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5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调优（Finetuned）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04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19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优化器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SGD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SGD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103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初始学习率 </a:t>
                      </a: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Monaco" pitchFamily="2" charset="0"/>
                        </a:rPr>
                        <a:t>lr0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0.01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0.003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032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最终学习率比例 </a:t>
                      </a: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Monaco" pitchFamily="2" charset="0"/>
                        </a:rPr>
                        <a:t>lrf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0.01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0.12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981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动量 </a:t>
                      </a: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Monaco" pitchFamily="2" charset="0"/>
                        </a:rPr>
                        <a:t>momentum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0.937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0.843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3540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权重衰减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0.0005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0.00036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18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预热 epoch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3.0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2.0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495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学习率调度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线性余弦退火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线性余弦退火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32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042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6A1609-0136-0029-3037-96B40DE03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创新点与改进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DE5C1A-8F1B-0210-D011-C80B2F99D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zh-CN" dirty="0"/>
              <a:t>本实验在标准 YOLOv5 微调流程基础上，做了以下</a:t>
            </a:r>
            <a:r>
              <a:rPr lang="zh-CN" altLang="zh-CN" b="1" dirty="0"/>
              <a:t>面向 VOC 域适配</a:t>
            </a:r>
            <a:r>
              <a:rPr lang="zh-CN" altLang="zh-CN" dirty="0"/>
              <a:t>的改进：</a:t>
            </a:r>
          </a:p>
          <a:p>
            <a:pPr lvl="1"/>
            <a:r>
              <a:rPr lang="zh-CN" altLang="zh-CN" b="1" dirty="0"/>
              <a:t>自定义微调超参文件 hyp.voc_finetune.yaml</a:t>
            </a:r>
            <a:r>
              <a:rPr lang="zh-CN" altLang="zh-CN" dirty="0"/>
              <a:t> 针对 COCO→VOC 迁移场景，将学习率降至 0.003，并补全 mosaic、mixup、HSV 等增强参数（原 hyp.finetune.yaml 不完整）。</a:t>
            </a:r>
          </a:p>
          <a:p>
            <a:pPr lvl="1"/>
            <a:r>
              <a:rPr lang="zh-CN" altLang="zh-CN" b="1" dirty="0"/>
              <a:t>部分 Backbone 冻结（--freeze 0 1 2）</a:t>
            </a:r>
            <a:r>
              <a:rPr lang="zh-CN" altLang="zh-CN" dirty="0"/>
              <a:t> 冻结网络前 3 层低层卷积，保留边缘/纹理等通用特征，仅训练高层语义与检测头，加速收敛并减少灾难性遗忘。</a:t>
            </a:r>
          </a:p>
          <a:p>
            <a:pPr lvl="1"/>
            <a:r>
              <a:rPr lang="zh-CN" altLang="zh-CN" b="1" dirty="0"/>
              <a:t>自动化实验分析脚本 analyze_results.py</a:t>
            </a:r>
            <a:r>
              <a:rPr lang="zh-CN" altLang="zh-CN" dirty="0"/>
              <a:t> 一键读取 results.csv 绘制 Baseline vs Finetuned 对比曲线，汇总 P/R/F1/mAP 指标表，输出 per-class 分析与 Markdown 报告。</a:t>
            </a:r>
          </a:p>
          <a:p>
            <a:pPr lvl="1"/>
            <a:r>
              <a:rPr lang="zh-CN" altLang="zh-CN" b="1" dirty="0"/>
              <a:t>VOC 数据离线准备脚本 scripts/prepare_voc.py</a:t>
            </a:r>
            <a:r>
              <a:rPr lang="zh-CN" altLang="zh-CN" dirty="0"/>
              <a:t> 支持从 pjreddie 镜像下载 tar 包，自动解压并转换 XML 标注为 YOLO 格式，解决 GitHub 下载不稳定问题。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3640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BAEDD-338E-D729-A34F-ED5D5313B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实验分析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7C41EC-3830-8B17-ADAC-9BDB58462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1921"/>
          </a:xfrm>
        </p:spPr>
        <p:txBody>
          <a:bodyPr/>
          <a:lstStyle/>
          <a:p>
            <a:r>
              <a:rPr lang="zh-CN" altLang="zh-CN" dirty="0"/>
              <a:t>在 VOC2007 test 集（4,952 张）上的评估结果如下：</a:t>
            </a:r>
            <a:endParaRPr kumimoji="1" lang="zh-CN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D802FC2-123E-A62E-A8AC-C56FE5980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40539"/>
              </p:ext>
            </p:extLst>
          </p:nvPr>
        </p:nvGraphicFramePr>
        <p:xfrm>
          <a:off x="1504948" y="2480469"/>
          <a:ext cx="9182103" cy="1295400"/>
        </p:xfrm>
        <a:graphic>
          <a:graphicData uri="http://schemas.openxmlformats.org/drawingml/2006/table">
            <a:tbl>
              <a:tblPr/>
              <a:tblGrid>
                <a:gridCol w="1311729">
                  <a:extLst>
                    <a:ext uri="{9D8B030D-6E8A-4147-A177-3AD203B41FA5}">
                      <a16:colId xmlns:a16="http://schemas.microsoft.com/office/drawing/2014/main" val="1707155109"/>
                    </a:ext>
                  </a:extLst>
                </a:gridCol>
                <a:gridCol w="1311729">
                  <a:extLst>
                    <a:ext uri="{9D8B030D-6E8A-4147-A177-3AD203B41FA5}">
                      <a16:colId xmlns:a16="http://schemas.microsoft.com/office/drawing/2014/main" val="335719485"/>
                    </a:ext>
                  </a:extLst>
                </a:gridCol>
                <a:gridCol w="1311729">
                  <a:extLst>
                    <a:ext uri="{9D8B030D-6E8A-4147-A177-3AD203B41FA5}">
                      <a16:colId xmlns:a16="http://schemas.microsoft.com/office/drawing/2014/main" val="762968707"/>
                    </a:ext>
                  </a:extLst>
                </a:gridCol>
                <a:gridCol w="1311729">
                  <a:extLst>
                    <a:ext uri="{9D8B030D-6E8A-4147-A177-3AD203B41FA5}">
                      <a16:colId xmlns:a16="http://schemas.microsoft.com/office/drawing/2014/main" val="3553605471"/>
                    </a:ext>
                  </a:extLst>
                </a:gridCol>
                <a:gridCol w="1311729">
                  <a:extLst>
                    <a:ext uri="{9D8B030D-6E8A-4147-A177-3AD203B41FA5}">
                      <a16:colId xmlns:a16="http://schemas.microsoft.com/office/drawing/2014/main" val="4114007761"/>
                    </a:ext>
                  </a:extLst>
                </a:gridCol>
                <a:gridCol w="1311729">
                  <a:extLst>
                    <a:ext uri="{9D8B030D-6E8A-4147-A177-3AD203B41FA5}">
                      <a16:colId xmlns:a16="http://schemas.microsoft.com/office/drawing/2014/main" val="1133809081"/>
                    </a:ext>
                  </a:extLst>
                </a:gridCol>
                <a:gridCol w="1311729">
                  <a:extLst>
                    <a:ext uri="{9D8B030D-6E8A-4147-A177-3AD203B41FA5}">
                      <a16:colId xmlns:a16="http://schemas.microsoft.com/office/drawing/2014/main" val="33424170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模型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056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A5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56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Precision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E0A5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0A2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A5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Recall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C0A2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B4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A2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F1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60B4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A0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B4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mAP@0.5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60A0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B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A0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mAP@0.5:0.95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60B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34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B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检测准确率*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6034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34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34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79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微调前（epoch 0）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0.526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0.062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0.110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0.098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0.052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0.058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478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Baseline 微调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0.805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0.780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0.792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0.831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0.590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0.656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301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调优微调（最终）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0.804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0.792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0.798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0.853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0.611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0.664</a:t>
                      </a:r>
                      <a:endParaRPr lang="zh-CN" sz="1200" b="0" i="0" dirty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215995"/>
                  </a:ext>
                </a:extLst>
              </a:tr>
            </a:tbl>
          </a:graphicData>
        </a:graphic>
      </p:graphicFrame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6D3CEE5C-050B-3651-3D5F-71EEF39C4E7C}"/>
              </a:ext>
            </a:extLst>
          </p:cNvPr>
          <p:cNvSpPr txBox="1">
            <a:spLocks/>
          </p:cNvSpPr>
          <p:nvPr/>
        </p:nvSpPr>
        <p:spPr>
          <a:xfrm>
            <a:off x="838200" y="3908791"/>
            <a:ext cx="10515600" cy="2584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400" dirty="0"/>
              <a:t>微调使 mAP@0.5 从 </a:t>
            </a:r>
            <a:r>
              <a:rPr lang="zh-CN" altLang="zh-CN" sz="2400" b="1" dirty="0"/>
              <a:t>0.098 → 0.853</a:t>
            </a:r>
            <a:r>
              <a:rPr lang="zh-CN" altLang="zh-CN" sz="2400" dirty="0"/>
              <a:t>，相对 COCO 权重直接用于 VOC 有 </a:t>
            </a:r>
            <a:r>
              <a:rPr lang="zh-CN" altLang="zh-CN" sz="2400" b="1" dirty="0"/>
              <a:t>+75.5%</a:t>
            </a:r>
            <a:r>
              <a:rPr lang="zh-CN" altLang="zh-CN" sz="2400" dirty="0"/>
              <a:t> 的绝对提升</a:t>
            </a:r>
          </a:p>
          <a:p>
            <a:r>
              <a:rPr lang="zh-CN" altLang="zh-CN" sz="2400" dirty="0"/>
              <a:t>调优超参相较 Baseline 进一步提升 mAP@0.5 </a:t>
            </a:r>
            <a:r>
              <a:rPr lang="zh-CN" altLang="zh-CN" sz="2400" b="1" dirty="0"/>
              <a:t>0.831 → 0.853（+2.2%）</a:t>
            </a:r>
            <a:r>
              <a:rPr lang="zh-CN" altLang="zh-CN" sz="2400" dirty="0"/>
              <a:t>，Recall 从 0.780 提升至 0.792</a:t>
            </a:r>
          </a:p>
          <a:p>
            <a:r>
              <a:rPr lang="zh-CN" altLang="zh-CN" sz="2400" dirty="0"/>
              <a:t>Finetuned 模型的 mAP@0.5:0.95 达到 </a:t>
            </a:r>
            <a:r>
              <a:rPr lang="zh-CN" altLang="zh-CN" sz="2400" b="1" dirty="0"/>
              <a:t>0.611</a:t>
            </a:r>
            <a:r>
              <a:rPr lang="zh-CN" altLang="zh-CN" sz="2400" dirty="0"/>
              <a:t>，高 IoU 阈值下定位更精确</a:t>
            </a:r>
          </a:p>
        </p:txBody>
      </p:sp>
    </p:spTree>
    <p:extLst>
      <p:ext uri="{BB962C8B-B14F-4D97-AF65-F5344CB8AC3E}">
        <p14:creationId xmlns:p14="http://schemas.microsoft.com/office/powerpoint/2010/main" val="112508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0AFD7-00BE-11C5-63CF-2EE678E2F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各类别性能分析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6DC15C-B2D2-45A1-2003-8E748D401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3129"/>
          </a:xfrm>
        </p:spPr>
        <p:txBody>
          <a:bodyPr/>
          <a:lstStyle/>
          <a:p>
            <a:r>
              <a:rPr lang="zh-CN" altLang="zh-CN" b="1" dirty="0"/>
              <a:t>表现最好的 5 类（Finetuned，mAP@0.5）：</a:t>
            </a:r>
            <a:endParaRPr kumimoji="1"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1A38284-B9D8-0EE0-8BBC-88FF114AF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85907"/>
              </p:ext>
            </p:extLst>
          </p:nvPr>
        </p:nvGraphicFramePr>
        <p:xfrm>
          <a:off x="1504950" y="2503170"/>
          <a:ext cx="9182100" cy="1851660"/>
        </p:xfrm>
        <a:graphic>
          <a:graphicData uri="http://schemas.openxmlformats.org/drawingml/2006/table">
            <a:tbl>
              <a:tblPr/>
              <a:tblGrid>
                <a:gridCol w="2295525">
                  <a:extLst>
                    <a:ext uri="{9D8B030D-6E8A-4147-A177-3AD203B41FA5}">
                      <a16:colId xmlns:a16="http://schemas.microsoft.com/office/drawing/2014/main" val="4156417350"/>
                    </a:ext>
                  </a:extLst>
                </a:gridCol>
                <a:gridCol w="2295525">
                  <a:extLst>
                    <a:ext uri="{9D8B030D-6E8A-4147-A177-3AD203B41FA5}">
                      <a16:colId xmlns:a16="http://schemas.microsoft.com/office/drawing/2014/main" val="1288331216"/>
                    </a:ext>
                  </a:extLst>
                </a:gridCol>
                <a:gridCol w="2295525">
                  <a:extLst>
                    <a:ext uri="{9D8B030D-6E8A-4147-A177-3AD203B41FA5}">
                      <a16:colId xmlns:a16="http://schemas.microsoft.com/office/drawing/2014/main" val="2236572226"/>
                    </a:ext>
                  </a:extLst>
                </a:gridCol>
                <a:gridCol w="2295525">
                  <a:extLst>
                    <a:ext uri="{9D8B030D-6E8A-4147-A177-3AD203B41FA5}">
                      <a16:colId xmlns:a16="http://schemas.microsoft.com/office/drawing/2014/main" val="23194779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类别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200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06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Precision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2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3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2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Recall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A03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3B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38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mAP@0.5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203B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3B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3B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479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bus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0.884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0.869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0.940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537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car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0.815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0.905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0.933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85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aeroplane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0.930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0.849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0.931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667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horse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0.905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0.876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0.927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725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bicycle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0.892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0.834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0.920</a:t>
                      </a:r>
                      <a:endParaRPr lang="zh-CN" sz="1400" b="0" i="0" dirty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270995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FD96A35-0485-A0AE-AD41-DBFC908534EC}"/>
              </a:ext>
            </a:extLst>
          </p:cNvPr>
          <p:cNvSpPr txBox="1">
            <a:spLocks/>
          </p:cNvSpPr>
          <p:nvPr/>
        </p:nvSpPr>
        <p:spPr>
          <a:xfrm>
            <a:off x="838200" y="4519246"/>
            <a:ext cx="10515600" cy="5131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b="1" dirty="0"/>
              <a:t>表现最弱的 5 类：</a:t>
            </a:r>
            <a:endParaRPr kumimoji="1"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8DF4F86-75FE-8BDD-7093-138BAAB94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770550"/>
              </p:ext>
            </p:extLst>
          </p:nvPr>
        </p:nvGraphicFramePr>
        <p:xfrm>
          <a:off x="1504950" y="5032375"/>
          <a:ext cx="9182100" cy="1668780"/>
        </p:xfrm>
        <a:graphic>
          <a:graphicData uri="http://schemas.openxmlformats.org/drawingml/2006/table">
            <a:tbl>
              <a:tblPr/>
              <a:tblGrid>
                <a:gridCol w="2295525">
                  <a:extLst>
                    <a:ext uri="{9D8B030D-6E8A-4147-A177-3AD203B41FA5}">
                      <a16:colId xmlns:a16="http://schemas.microsoft.com/office/drawing/2014/main" val="3662382761"/>
                    </a:ext>
                  </a:extLst>
                </a:gridCol>
                <a:gridCol w="2295525">
                  <a:extLst>
                    <a:ext uri="{9D8B030D-6E8A-4147-A177-3AD203B41FA5}">
                      <a16:colId xmlns:a16="http://schemas.microsoft.com/office/drawing/2014/main" val="3190799463"/>
                    </a:ext>
                  </a:extLst>
                </a:gridCol>
                <a:gridCol w="2295525">
                  <a:extLst>
                    <a:ext uri="{9D8B030D-6E8A-4147-A177-3AD203B41FA5}">
                      <a16:colId xmlns:a16="http://schemas.microsoft.com/office/drawing/2014/main" val="3719030338"/>
                    </a:ext>
                  </a:extLst>
                </a:gridCol>
                <a:gridCol w="2295525">
                  <a:extLst>
                    <a:ext uri="{9D8B030D-6E8A-4147-A177-3AD203B41FA5}">
                      <a16:colId xmlns:a16="http://schemas.microsoft.com/office/drawing/2014/main" val="1218701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类别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20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6D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Precision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06D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6D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Recall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80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7A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mAP@0.5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607A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7A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7A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672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pottedplant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0.638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0.596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0.638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078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chair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0.616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0.692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0.711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774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boat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0.703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0.667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0.717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073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sofa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0.767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0.648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0.789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186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diningtable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0.818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0.728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200" b="1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0.803</a:t>
                      </a:r>
                      <a:endParaRPr lang="zh-CN" sz="1200" b="0" i="0" dirty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907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974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CBB270-473E-05E1-9866-09A93E927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zh-CN" b="1" dirty="0"/>
              <a:t>缺陷分析：</a:t>
            </a:r>
            <a:endParaRPr lang="zh-CN" altLang="zh-CN" dirty="0"/>
          </a:p>
          <a:p>
            <a:pPr lvl="1"/>
            <a:r>
              <a:rPr lang="zh-CN" altLang="zh-CN" b="1" dirty="0"/>
              <a:t>小目标检测不足</a:t>
            </a:r>
            <a:r>
              <a:rPr lang="zh-CN" altLang="zh-CN" dirty="0"/>
              <a:t> pottedplant（0.638）、boat（0.717）等小目标 mAP 明显低于 bus/car 等大目标。小物体在 640×640 输入下占像素少，特征图分辨率不足导致漏检。</a:t>
            </a:r>
          </a:p>
          <a:p>
            <a:pPr lvl="1"/>
            <a:r>
              <a:rPr lang="zh-CN" altLang="zh-CN" b="1" dirty="0"/>
              <a:t>相似类别混淆</a:t>
            </a:r>
            <a:r>
              <a:rPr lang="zh-CN" altLang="zh-CN" dirty="0"/>
              <a:t> 混淆矩阵中 cat/dog、car/bus 等语义相近类别存在误分类，尤其 sofa 的 recall 仅 0.648，易与 chair 混淆。</a:t>
            </a:r>
          </a:p>
          <a:p>
            <a:pPr lvl="1"/>
            <a:r>
              <a:rPr lang="zh-CN" altLang="zh-CN" b="1" dirty="0"/>
              <a:t>类别不均衡</a:t>
            </a:r>
            <a:r>
              <a:rPr lang="zh-CN" altLang="zh-CN" dirty="0"/>
              <a:t> person 实例占测试集 37.6%，模型对 person 的 mAP@0.5 达 0.916；而 pottedplant 仅 480 个实例，recall 偏低。</a:t>
            </a:r>
          </a:p>
          <a:p>
            <a:pPr lvl="1"/>
            <a:r>
              <a:rPr lang="zh-CN" altLang="zh-CN" b="1" dirty="0"/>
              <a:t>定位 vs 分类</a:t>
            </a:r>
            <a:r>
              <a:rPr lang="zh-CN" altLang="zh-CN" dirty="0"/>
              <a:t> chair 的 recall（0.692）高于 precision（0.616），说明模型能找到椅子但误检较多（背景误报）。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8825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99A2FA-91B7-822F-8D58-99A61E60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验证集预测对比</a:t>
            </a:r>
            <a:endParaRPr kumimoji="1"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28F43430-39AA-41C7-5D0A-10DF0C58F1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115" y="2445833"/>
            <a:ext cx="5811792" cy="277270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42D549A-35AE-379A-BD32-3FAABF949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093" y="2445833"/>
            <a:ext cx="5811792" cy="2772709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D1C7D89-2E3C-1338-F410-657D72DCCECA}"/>
              </a:ext>
            </a:extLst>
          </p:cNvPr>
          <p:cNvSpPr txBox="1">
            <a:spLocks/>
          </p:cNvSpPr>
          <p:nvPr/>
        </p:nvSpPr>
        <p:spPr>
          <a:xfrm>
            <a:off x="838200" y="1472009"/>
            <a:ext cx="10515600" cy="4373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左侧为验证集结果，右侧为预测值</a:t>
            </a:r>
          </a:p>
        </p:txBody>
      </p:sp>
    </p:spTree>
    <p:extLst>
      <p:ext uri="{BB962C8B-B14F-4D97-AF65-F5344CB8AC3E}">
        <p14:creationId xmlns:p14="http://schemas.microsoft.com/office/powerpoint/2010/main" val="46209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502344-F23C-7DF9-CA33-CA3749A7B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总结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C8726A-EA5F-A107-4614-F918AAB4D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zh-CN" sz="2400" dirty="0"/>
              <a:t>基于 </a:t>
            </a:r>
            <a:r>
              <a:rPr lang="zh-CN" altLang="zh-CN" sz="2400" b="1" dirty="0"/>
              <a:t>YOLOv5s + COCO 预训练权重</a:t>
            </a:r>
            <a:r>
              <a:rPr lang="zh-CN" altLang="zh-CN" sz="2400" dirty="0"/>
              <a:t> 在 PASCAL VOC 上微调，可在 50 epoch 内将 mAP@0.5 从接近 0 提升至 </a:t>
            </a:r>
            <a:r>
              <a:rPr lang="zh-CN" altLang="zh-CN" sz="2400" b="1" dirty="0"/>
              <a:t>0.853</a:t>
            </a:r>
            <a:r>
              <a:rPr lang="zh-CN" altLang="zh-CN" sz="2400" dirty="0"/>
              <a:t>，验证了迁移学习在目标检测任务中的有效性。</a:t>
            </a:r>
          </a:p>
          <a:p>
            <a:r>
              <a:rPr lang="zh-CN" altLang="zh-CN" sz="2400" dirty="0"/>
              <a:t>相较 Baseline 默认超参，本实验提出的 </a:t>
            </a:r>
            <a:r>
              <a:rPr lang="zh-CN" altLang="zh-CN" sz="2400" b="1" dirty="0"/>
              <a:t>低学习率 + 部分冻结 backbone + 轻度 mixup</a:t>
            </a:r>
            <a:r>
              <a:rPr lang="zh-CN" altLang="zh-CN" sz="2400" dirty="0"/>
              <a:t> 策略（hyp.voc_finetune.yaml）使 mAP@0.5 额外提升 </a:t>
            </a:r>
            <a:r>
              <a:rPr lang="zh-CN" altLang="zh-CN" sz="2400" b="1" dirty="0"/>
              <a:t>2.2%</a:t>
            </a:r>
            <a:r>
              <a:rPr lang="zh-CN" altLang="zh-CN" sz="2400" dirty="0"/>
              <a:t>，Recall 提升 </a:t>
            </a:r>
            <a:r>
              <a:rPr lang="zh-CN" altLang="zh-CN" sz="2400" b="1" dirty="0"/>
              <a:t>1.2%</a:t>
            </a:r>
            <a:r>
              <a:rPr lang="zh-CN" altLang="zh-CN" sz="2400" dirty="0"/>
              <a:t>。</a:t>
            </a:r>
          </a:p>
          <a:p>
            <a:r>
              <a:rPr lang="zh-CN" altLang="zh-CN" sz="2400" dirty="0"/>
              <a:t>模型在 </a:t>
            </a:r>
            <a:r>
              <a:rPr lang="zh-CN" altLang="zh-CN" sz="2400" b="1" dirty="0"/>
              <a:t>大目标、外形规整类别</a:t>
            </a:r>
            <a:r>
              <a:rPr lang="zh-CN" altLang="zh-CN" sz="2400" dirty="0"/>
              <a:t>（bus、car、aeroplane）上表现优异（mAP@0.5 &gt; 0.92），在 </a:t>
            </a:r>
            <a:r>
              <a:rPr lang="zh-CN" altLang="zh-CN" sz="2400" b="1" dirty="0"/>
              <a:t>小目标、形态多样类别</a:t>
            </a:r>
            <a:r>
              <a:rPr lang="zh-CN" altLang="zh-CN" sz="2400" dirty="0"/>
              <a:t>（pottedplant、chair、boat）上仍有改进空间。</a:t>
            </a:r>
          </a:p>
          <a:p>
            <a:r>
              <a:rPr lang="zh-CN" altLang="zh-CN" sz="2400" dirty="0"/>
              <a:t>综合 Precision（0.804）、Recall（0.792）、F1（0.798）与 mAP@0.5（0.853），调优后的 </a:t>
            </a:r>
            <a:r>
              <a:rPr lang="zh-CN" altLang="zh-CN" sz="2400" b="1" dirty="0"/>
              <a:t>YOLOv5s-VOC 模型</a:t>
            </a:r>
            <a:r>
              <a:rPr lang="zh-CN" altLang="zh-CN" sz="2400" dirty="0"/>
              <a:t> 可作为 VOC 域目标检测的实用基线。</a:t>
            </a:r>
          </a:p>
        </p:txBody>
      </p:sp>
    </p:spTree>
    <p:extLst>
      <p:ext uri="{BB962C8B-B14F-4D97-AF65-F5344CB8AC3E}">
        <p14:creationId xmlns:p14="http://schemas.microsoft.com/office/powerpoint/2010/main" val="1371623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1262</Words>
  <Application>Microsoft Macintosh PowerPoint</Application>
  <PresentationFormat>宽屏</PresentationFormat>
  <Paragraphs>168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等线 Light</vt:lpstr>
      <vt:lpstr>Arial</vt:lpstr>
      <vt:lpstr>Cambria Math</vt:lpstr>
      <vt:lpstr>Helvetica Neue</vt:lpstr>
      <vt:lpstr>Monaco</vt:lpstr>
      <vt:lpstr>Office 主题​​</vt:lpstr>
      <vt:lpstr>实验五：基于 YOLOv5 的 PASCAL VOC 目标检测微调与评估</vt:lpstr>
      <vt:lpstr>概述</vt:lpstr>
      <vt:lpstr>网络结构设计</vt:lpstr>
      <vt:lpstr>损失函数与优化器</vt:lpstr>
      <vt:lpstr>创新点与改进</vt:lpstr>
      <vt:lpstr>实验分析</vt:lpstr>
      <vt:lpstr>各类别性能分析</vt:lpstr>
      <vt:lpstr>PowerPoint 演示文稿</vt:lpstr>
      <vt:lpstr>验证集预测对比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立景 朱</dc:creator>
  <cp:lastModifiedBy>立景 朱</cp:lastModifiedBy>
  <cp:revision>1</cp:revision>
  <dcterms:created xsi:type="dcterms:W3CDTF">2026-06-19T13:30:08Z</dcterms:created>
  <dcterms:modified xsi:type="dcterms:W3CDTF">2026-06-19T13:48:02Z</dcterms:modified>
</cp:coreProperties>
</file>