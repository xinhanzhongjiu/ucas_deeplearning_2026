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64"/>
    <p:restoredTop sz="94690"/>
  </p:normalViewPr>
  <p:slideViewPr>
    <p:cSldViewPr snapToGrid="0">
      <p:cViewPr varScale="1">
        <p:scale>
          <a:sx n="111" d="100"/>
          <a:sy n="111" d="100"/>
        </p:scale>
        <p:origin x="7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0F57B-6E87-4DB2-CB5F-02E74453F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6AD943-963C-6AB8-7E35-64AF0FE96C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960B8D-8087-A6B4-AEA9-947606AD5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0AB1-39AF-4946-A3D0-62F67456A78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09CEDD-72C0-3C05-4B5A-FF9901F1E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244540-66D6-D62E-45BC-61032215D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6BB2-11B8-1B4E-BFAC-357280BBC0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8346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085C8-8A64-5134-634E-20E3A7E3F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6A2352-CA8C-B3F3-828A-565543500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109F4A-41AB-1ED6-E273-039B68106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0AB1-39AF-4946-A3D0-62F67456A78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43F823-B79A-0086-8F98-750A4B217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29A8DC-5AF0-02C4-DADE-7FA06093B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6BB2-11B8-1B4E-BFAC-357280BBC0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1664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AC7A1-2D18-9513-F5E5-E88D7E511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C08087-1D37-EC5B-E75B-5CAD95436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2246E7-5B13-899D-3494-11AC92E99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0AB1-39AF-4946-A3D0-62F67456A78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41FF55-7AAB-2C9D-CD55-2787E336B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5478B8-8896-1C26-7FD2-86276AA2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6BB2-11B8-1B4E-BFAC-357280BBC0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4495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7FD865-09CC-7315-BB34-B24AF921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B42D80-B60D-8C50-D3FC-E9DF0B6F92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A2F454-2673-CB32-D55B-C94CE63AF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A5E3D0-2826-5D53-AAF0-EFFA21109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0AB1-39AF-4946-A3D0-62F67456A78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34BAC4-EC55-0B27-9FF1-90B370856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104337-C05D-FB3A-D833-D1D5E58A2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6BB2-11B8-1B4E-BFAC-357280BBC0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4017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1242CB-0944-E8AA-6868-B3D090A3F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BF3AD6-009E-19F0-942C-D4EF25471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FEF1A5-D669-02D7-C04C-A86C7E7CC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4591475-7D38-110B-09D2-F8108CF8D5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2794E33-2841-7DCD-EF8E-9BBE8E902A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AFA0F61-DBD2-410C-720A-63644D499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0AB1-39AF-4946-A3D0-62F67456A78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37B4A8-4905-1FCB-CD38-0200990C7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8132CAC-A270-3948-CFC3-AE09119D7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6BB2-11B8-1B4E-BFAC-357280BBC0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1893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EF54CF-2547-ED46-1AE8-ADB73C42F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836302-9B80-DABB-A4CF-0FE055EED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0AB1-39AF-4946-A3D0-62F67456A78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B2EA54-A0BC-71B7-AC56-93ECD8757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C6A363-DB73-E065-4EA3-2EE458490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6BB2-11B8-1B4E-BFAC-357280BBC0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79501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8125EC-D70A-37CE-F2AB-3A2F01053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0AB1-39AF-4946-A3D0-62F67456A78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88E1E77-3F1F-848E-74A1-F4D6D1D5D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06A291-A437-ED2F-C7D2-490F0C18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6BB2-11B8-1B4E-BFAC-357280BBC0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1912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F0C0AF-FFF2-0DDB-970E-78C09F99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55DF31-6CD4-D92B-9B29-107949022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E19383-73FB-7F0E-2721-76DD22CF9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BE6749-4F65-223E-A07E-52D0C71B2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0AB1-39AF-4946-A3D0-62F67456A78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91504C-83AB-A386-B613-0035DA4A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238B67-5BB2-2C5C-D02A-60210E2B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6BB2-11B8-1B4E-BFAC-357280BBC0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52062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87237-6609-C43D-AA99-D24418ED8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6C2180-F137-A16D-E178-15FD5D8FCC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AEF335-A375-D586-5EA9-60B52776C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06D7C9-C94F-E177-D8FF-C19D1EB51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0AB1-39AF-4946-A3D0-62F67456A78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D98A4B-E233-0204-D1F7-92AECA98E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DC4376-36B2-8F45-23C0-1855DB2E9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6BB2-11B8-1B4E-BFAC-357280BBC0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8989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9284F1-9B71-3768-EB95-F2C0EE789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1B27A3-6BE6-D909-1228-7313C0695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712C30-8923-CF28-FD1D-8C75DC0C1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0AB1-39AF-4946-A3D0-62F67456A78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99FB7-5E62-E75C-195F-F941BD15C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11FBEE-ADDC-B638-C5DA-ED54D9AB6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6BB2-11B8-1B4E-BFAC-357280BBC0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3937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C388B85-79B3-8581-8A87-03199F7656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AB5D6A-5B7D-79BA-656D-89FBE8B3E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D1A7FC-7D0F-0633-5199-856A820AB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A0AB1-39AF-4946-A3D0-62F67456A78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AE501C-F12F-53B2-727B-9AA439A6D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34EFD2-0FF6-D780-34DE-69E9257F0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76BB2-11B8-1B4E-BFAC-357280BBC0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393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4600700-BF5A-948A-17D9-572857CCD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C46CFA-FDA0-F25B-100F-5EFA4A514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3618B1-8D52-1481-4651-E6D39D972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A0AB1-39AF-4946-A3D0-62F67456A780}" type="datetimeFigureOut">
              <a:rPr kumimoji="1" lang="zh-CN" altLang="en-US" smtClean="0"/>
              <a:t>2026/6/19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DA48AD-B5F2-497A-42F3-D60F3E1869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B647C8-4B7F-B8C7-B0B7-1626E1A29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276BB2-11B8-1B4E-BFAC-357280BBC08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344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5CFBF2-B089-0944-E348-22697C5591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b="1" dirty="0"/>
              <a:t>实验四：基于 Transformer 的中英机器翻译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A9F06D-0EB5-60B0-354D-ADD4D4D65A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zh-CN" dirty="0"/>
              <a:t>朱立景 2025E8013282177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2187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6D2AEA-7706-AAF8-EE08-2FEADA6A9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概述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551027-C9D0-8B61-5250-CF02859BA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000" dirty="0"/>
              <a:t>本实验旨在构建一个端到端的中英机器翻译系统。任务为将中文句子翻译为英文，采用 Encoder-Decoder 架构的 Transformer 模型，在 NiuTrans 提供的开源中英平行语料库上进行训练，并以 BLEU-4 作为核心评估指标。</a:t>
            </a:r>
          </a:p>
          <a:p>
            <a:r>
              <a:rPr lang="zh-CN" altLang="zh-CN" sz="2000" b="1" dirty="0"/>
              <a:t>任务定义：</a:t>
            </a:r>
            <a:r>
              <a:rPr lang="zh-CN" altLang="zh-CN" sz="2000" dirty="0"/>
              <a:t> 给定中文源句 x = (x_1, x_2, \ldots, x_m)，模型学习生成对应的英文目标句 y = (y_1, y_2, \ldots, y_n)，使翻译结果在 n-gram 层面尽可能接近参考译文。</a:t>
            </a:r>
          </a:p>
          <a:p>
            <a:r>
              <a:rPr lang="zh-CN" altLang="zh-CN" sz="2000" b="1" dirty="0"/>
              <a:t>数据集：</a:t>
            </a:r>
            <a:r>
              <a:rPr lang="zh-CN" altLang="zh-CN" sz="2000" dirty="0"/>
              <a:t> NiuTrans 开源中英平行语料，包含 10 万条训练句对、400 条开发句对和 1000 条测试句。</a:t>
            </a:r>
          </a:p>
          <a:p>
            <a:r>
              <a:rPr lang="zh-CN" altLang="zh-CN" sz="2000" b="1" dirty="0"/>
              <a:t>解决方案：</a:t>
            </a:r>
            <a:r>
              <a:rPr lang="zh-CN" altLang="zh-CN" sz="2000" dirty="0"/>
              <a:t> 基于 PyTorch 实现标准 Transformer 序列到序列模型，配合 Noam 学习率预热调度、Label Smoothing 交叉熵损失和贪心解码策略，在 GPU 上完成训练与评估。</a:t>
            </a:r>
          </a:p>
          <a:p>
            <a:r>
              <a:rPr lang="zh-CN" altLang="zh-CN" sz="2000" b="1" dirty="0"/>
              <a:t>实验环境：</a:t>
            </a:r>
            <a:r>
              <a:rPr lang="zh-CN" altLang="zh-CN" sz="2000" dirty="0"/>
              <a:t> Conda，Python 3.10，PyTorch 2.5.1 + CUDA，NVIDIA A800 GPU。</a:t>
            </a:r>
          </a:p>
        </p:txBody>
      </p:sp>
    </p:spTree>
    <p:extLst>
      <p:ext uri="{BB962C8B-B14F-4D97-AF65-F5344CB8AC3E}">
        <p14:creationId xmlns:p14="http://schemas.microsoft.com/office/powerpoint/2010/main" val="3987499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8F915F-03D5-3F15-B0FF-A2C7044EC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整体流程</a:t>
            </a:r>
            <a:br>
              <a:rPr lang="zh-CN" altLang="zh-CN" b="1" dirty="0"/>
            </a:b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A645F-62D3-7171-FA53-017F99A0A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中文句子 → 分词 → 词表编码 → Encoder → Decoder → 线性输出层 → 英文词序列 → 解码为文本</a:t>
            </a:r>
          </a:p>
          <a:p>
            <a:r>
              <a:rPr lang="zh-CN" altLang="zh-CN" dirty="0"/>
              <a:t>数据预处理阶段对中英文分别构建词表（含 &lt;pad&gt;、&lt;unk&gt;、&lt;bos&gt;、&lt;eos&gt; 特殊符号），训练时采用 Teacher Forcing，推理时使用贪心解码逐词生成目标句。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5528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B41C20-6F8B-63AB-41ED-A74A1F845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网络结构设计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D9280A-08A8-01EE-D15A-6F5E8BCBD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模型 Seq2SeqTransformer 遵循 Vaswani 等人提出的 Transformer 架构，主要包含以下模块：</a:t>
            </a:r>
            <a:endParaRPr kumimoji="1"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02046A3-C59E-73E3-23F9-AB8B07B3C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142415"/>
              </p:ext>
            </p:extLst>
          </p:nvPr>
        </p:nvGraphicFramePr>
        <p:xfrm>
          <a:off x="1504950" y="2814479"/>
          <a:ext cx="9182100" cy="2373630"/>
        </p:xfrm>
        <a:graphic>
          <a:graphicData uri="http://schemas.openxmlformats.org/drawingml/2006/table">
            <a:tbl>
              <a:tblPr/>
              <a:tblGrid>
                <a:gridCol w="4591050">
                  <a:extLst>
                    <a:ext uri="{9D8B030D-6E8A-4147-A177-3AD203B41FA5}">
                      <a16:colId xmlns:a16="http://schemas.microsoft.com/office/drawing/2014/main" val="455180436"/>
                    </a:ext>
                  </a:extLst>
                </a:gridCol>
                <a:gridCol w="4591050">
                  <a:extLst>
                    <a:ext uri="{9D8B030D-6E8A-4147-A177-3AD203B41FA5}">
                      <a16:colId xmlns:a16="http://schemas.microsoft.com/office/drawing/2014/main" val="3634095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模块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0D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E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DD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说明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20E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E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E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405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Token Embedding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中英文各自独立的词嵌入层，输出乘以 \sqrt{d_{model}} 进行缩放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5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Positional Encoding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正弦/余弦位置编码，为序列注入位置信息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157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Transformer Encoder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3 层，8 头多头自注意力，隐藏维度 256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939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Transformer Decoder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3 层，含掩码自注意力与交叉注意力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87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前馈网络 (FFN)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维度 512，激活函数 ReLU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755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Generator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线性层，将解码器输出映射到目标词表大小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364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535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483852-7DF8-A474-DA85-946A42C0D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损失函数</a:t>
            </a:r>
            <a:r>
              <a:rPr lang="zh-CN" altLang="en-US" b="1" dirty="0"/>
              <a:t>与</a:t>
            </a:r>
            <a:r>
              <a:rPr lang="zh-CN" altLang="zh-CN" b="1" dirty="0"/>
              <a:t>优化器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BEC14C7-8F10-008C-68C5-959C07917F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zh-CN" sz="2400" dirty="0"/>
                  <a:t>采用带 </a:t>
                </a:r>
                <a:r>
                  <a:rPr lang="zh-CN" altLang="zh-CN" sz="2400" b="1" dirty="0"/>
                  <a:t>Label Smoothing</a:t>
                </a:r>
                <a:r>
                  <a:rPr lang="zh-CN" altLang="zh-CN" sz="2400" dirty="0"/>
                  <a:t> 的交叉熵损失。标准 one-hot 标签会使模型过度自信，Label Smoothing 将真实标签的概率从 1.0 软化为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1 − 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CN" altLang="zh-CN" sz="2400" dirty="0"/>
                  <a:t>，其余概率均匀分配给词表中其他 token（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= 0.1</m:t>
                    </m:r>
                  </m:oMath>
                </a14:m>
                <a:r>
                  <a:rPr lang="zh-CN" altLang="zh-CN" sz="2400" dirty="0"/>
                  <a:t>），有助于提升泛化能力。</a:t>
                </a:r>
                <a:endParaRPr lang="en-US" altLang="zh-CN" sz="2400" dirty="0"/>
              </a:p>
              <a:p>
                <a:r>
                  <a:rPr lang="zh-CN" altLang="zh-CN" sz="2400" dirty="0"/>
                  <a:t>优化器选用 </a:t>
                </a:r>
                <a:r>
                  <a:rPr lang="zh-CN" altLang="zh-CN" sz="2400" b="1" dirty="0"/>
                  <a:t>Adam</a:t>
                </a:r>
                <a:r>
                  <a:rPr lang="zh-CN" altLang="zh-CN" sz="2400" dirty="0"/>
                  <a:t>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=0.9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=0.98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</a:rPr>
                          <m:t>−9</m:t>
                        </m:r>
                      </m:sup>
                    </m:sSup>
                  </m:oMath>
                </a14:m>
                <a:r>
                  <a:rPr lang="zh-CN" altLang="zh-CN" sz="2400" dirty="0"/>
                  <a:t>），学习率由 </a:t>
                </a:r>
                <a:r>
                  <a:rPr lang="zh-CN" altLang="zh-CN" sz="2400" b="1" dirty="0"/>
                  <a:t>Noam 调度策略</a:t>
                </a:r>
                <a:r>
                  <a:rPr lang="zh-CN" altLang="zh-CN" sz="2400" dirty="0"/>
                  <a:t> 动态控制：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zh-CN" sz="2000" i="0" dirty="0" smtClean="0">
                        <a:latin typeface="Cambria Math" panose="02040503050406030204" pitchFamily="18" charset="0"/>
                      </a:rPr>
                      <m:t>lr</m:t>
                    </m:r>
                    <m:r>
                      <a:rPr lang="zh-CN" altLang="zh-CN" sz="2000" i="1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zh-CN" sz="20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zh-CN" sz="20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zh-CN" altLang="zh-CN" sz="2000" i="1" dirty="0" smtClean="0">
                            <a:latin typeface="Cambria Math" panose="02040503050406030204" pitchFamily="18" charset="0"/>
                          </a:rPr>
                          <m:t>𝑚𝑜𝑑𝑒𝑙</m:t>
                        </m:r>
                      </m:sub>
                      <m:sup>
                        <m:r>
                          <a:rPr lang="zh-CN" altLang="zh-CN" sz="2000" i="1" dirty="0" smtClean="0">
                            <a:latin typeface="Cambria Math" panose="02040503050406030204" pitchFamily="18" charset="0"/>
                          </a:rPr>
                          <m:t>−0.5</m:t>
                        </m:r>
                      </m:sup>
                    </m:sSubSup>
                    <m:r>
                      <a:rPr lang="zh-CN" altLang="zh-CN" sz="2000" i="1" dirty="0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zh-CN" altLang="zh-CN" sz="200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zh-CN" sz="2000" i="0" dirty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zh-CN" altLang="zh-CN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zh-CN" altLang="zh-CN" sz="2000" i="0" dirty="0" smtClean="0">
                                    <a:latin typeface="Cambria Math" panose="02040503050406030204" pitchFamily="18" charset="0"/>
                                  </a:rPr>
                                  <m:t>step</m:t>
                                </m:r>
                              </m:e>
                              <m:sup>
                                <m:r>
                                  <a:rPr lang="zh-CN" altLang="zh-CN" sz="2000" i="1" dirty="0" smtClean="0">
                                    <a:latin typeface="Cambria Math" panose="02040503050406030204" pitchFamily="18" charset="0"/>
                                  </a:rPr>
                                  <m:t>−0.5</m:t>
                                </m:r>
                              </m:sup>
                            </m:sSup>
                            <m:r>
                              <a:rPr lang="zh-CN" altLang="zh-CN" sz="200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lit/>
                              </m:rPr>
                              <a:rPr lang="zh-CN" altLang="zh-CN" sz="20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zh-CN" altLang="zh-CN" sz="2000" i="0" dirty="0">
                                <a:latin typeface="Cambria Math" panose="02040503050406030204" pitchFamily="18" charset="0"/>
                              </a:rPr>
                              <m:t>step</m:t>
                            </m:r>
                            <m:r>
                              <a:rPr lang="zh-CN" altLang="zh-CN" sz="2000" i="1" dirty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sSupPr>
                                <m:ctrlPr>
                                  <a:rPr lang="zh-CN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zh-CN" altLang="zh-CN" sz="2000" i="0" dirty="0">
                                    <a:latin typeface="Cambria Math" panose="02040503050406030204" pitchFamily="18" charset="0"/>
                                  </a:rPr>
                                  <m:t>warmup</m:t>
                                </m:r>
                                <m:r>
                                  <m:rPr>
                                    <m:lit/>
                                    <m:nor/>
                                  </m:rPr>
                                  <a:rPr lang="zh-CN" altLang="zh-CN" sz="2000" i="0" dirty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m:rPr>
                                    <m:nor/>
                                  </m:rPr>
                                  <a:rPr lang="zh-CN" altLang="zh-CN" sz="2000" i="0" dirty="0">
                                    <a:latin typeface="Cambria Math" panose="02040503050406030204" pitchFamily="18" charset="0"/>
                                  </a:rPr>
                                  <m:t>steps</m:t>
                                </m:r>
                              </m:e>
                              <m:sup>
                                <m:r>
                                  <a:rPr lang="zh-CN" altLang="zh-CN" sz="2000" i="1" dirty="0">
                                    <a:latin typeface="Cambria Math" panose="02040503050406030204" pitchFamily="18" charset="0"/>
                                  </a:rPr>
                                  <m:t>−1.5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zh-CN" altLang="zh-CN" sz="2400" dirty="0"/>
              </a:p>
              <a:p>
                <a:r>
                  <a:rPr lang="zh-CN" altLang="zh-CN" sz="2400" dirty="0"/>
                  <a:t>该策略在训练初期线性增大学习率（warmup），之后按步数平方根衰减，是 Transformer 原论文的标准做法。warmup_steps 设为 4000，Adam 基础学习率设为 1.0，由调度器按公式缩放。</a:t>
                </a:r>
                <a:endParaRPr lang="en-US" altLang="zh-CN" sz="2400" dirty="0"/>
              </a:p>
              <a:p>
                <a:r>
                  <a:rPr lang="zh-CN" altLang="zh-CN" sz="2400" dirty="0"/>
                  <a:t>此外，每个 batch 训练后执行梯度裁剪（clip_grad_norm_，阈值 1.0），防止梯度爆炸。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BEC14C7-8F10-008C-68C5-959C07917F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744" r="-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142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FBE0F7-FC6D-A965-7F03-BE069942B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解码策略</a:t>
            </a:r>
            <a:r>
              <a:rPr lang="zh-CN" altLang="en-US" b="1" dirty="0"/>
              <a:t>与</a:t>
            </a:r>
            <a:r>
              <a:rPr lang="zh-CN" altLang="zh-CN" b="1" dirty="0"/>
              <a:t>评估指标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C670CB-7616-8139-6212-67852437A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推理阶段采用 </a:t>
            </a:r>
            <a:r>
              <a:rPr lang="zh-CN" altLang="zh-CN" b="1" dirty="0"/>
              <a:t>贪心解码（Greedy Decoding）</a:t>
            </a:r>
            <a:r>
              <a:rPr lang="zh-CN" altLang="zh-CN" dirty="0"/>
              <a:t>：每步选取概率最高的 token 作为输出，直至生成 &lt;eos&gt; 或达到最大长度 128。编码器对源句编码一次，解码器逐步自回归生成目标句。</a:t>
            </a:r>
            <a:endParaRPr lang="en-US" altLang="zh-CN" dirty="0"/>
          </a:p>
          <a:p>
            <a:r>
              <a:rPr lang="zh-CN" altLang="zh-CN" dirty="0"/>
              <a:t>BLEU-4（Bilingual Evaluation Understudy）衡量生成译文与参考译文在 1-gram 至 4-gram 上的加权几何平均精确率，并施加简短惩罚（Brevity Penalty）。本实验在开发集上逐 epoch 计算 corpus-level BLEU-4，保存 BLEU 最高的 checkpoint。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7981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00B88-D368-6808-019B-A048833C5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实验</a:t>
            </a:r>
            <a:r>
              <a:rPr lang="zh-CN" altLang="en-US" b="1" dirty="0"/>
              <a:t>结果与</a:t>
            </a:r>
            <a:r>
              <a:rPr lang="zh-CN" altLang="zh-CN" b="1" dirty="0"/>
              <a:t>分析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3DC458-D43A-5E89-2254-55ACF92EE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训练过程各 epoch 的训练损失、开发集 BLEU-4 及当前学习率如下：</a:t>
            </a:r>
            <a:endParaRPr kumimoji="1"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9257986-14BC-0082-7610-55D0BBE41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852084"/>
              </p:ext>
            </p:extLst>
          </p:nvPr>
        </p:nvGraphicFramePr>
        <p:xfrm>
          <a:off x="1504950" y="2782253"/>
          <a:ext cx="9182100" cy="3394710"/>
        </p:xfrm>
        <a:graphic>
          <a:graphicData uri="http://schemas.openxmlformats.org/drawingml/2006/table">
            <a:tbl>
              <a:tblPr/>
              <a:tblGrid>
                <a:gridCol w="2295525">
                  <a:extLst>
                    <a:ext uri="{9D8B030D-6E8A-4147-A177-3AD203B41FA5}">
                      <a16:colId xmlns:a16="http://schemas.microsoft.com/office/drawing/2014/main" val="4005472762"/>
                    </a:ext>
                  </a:extLst>
                </a:gridCol>
                <a:gridCol w="2295525">
                  <a:extLst>
                    <a:ext uri="{9D8B030D-6E8A-4147-A177-3AD203B41FA5}">
                      <a16:colId xmlns:a16="http://schemas.microsoft.com/office/drawing/2014/main" val="3473638978"/>
                    </a:ext>
                  </a:extLst>
                </a:gridCol>
                <a:gridCol w="2295525">
                  <a:extLst>
                    <a:ext uri="{9D8B030D-6E8A-4147-A177-3AD203B41FA5}">
                      <a16:colId xmlns:a16="http://schemas.microsoft.com/office/drawing/2014/main" val="1331565955"/>
                    </a:ext>
                  </a:extLst>
                </a:gridCol>
                <a:gridCol w="2295525">
                  <a:extLst>
                    <a:ext uri="{9D8B030D-6E8A-4147-A177-3AD203B41FA5}">
                      <a16:colId xmlns:a16="http://schemas.microsoft.com/office/drawing/2014/main" val="41035558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Epoch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E00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00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0A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Train Loss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600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2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006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Dev BLEU-4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802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2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Learning Rate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A0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0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38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158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01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6.6226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4.07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3.86e-4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00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02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4.7674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10.18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7.72e-4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298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03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4.1450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14.39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9.13e-4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826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3.7734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15.10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7.90e-4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176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05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3.5423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16.75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7.07e-4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77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06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3.3879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19.11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6.45e-4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119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07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3.2743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19.69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5.98e-4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932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08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3.1858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19.10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5.59e-4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293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09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3.1155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19.94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5.27e-4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73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10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3.0545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1" i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20.28</a:t>
                      </a:r>
                      <a:endParaRPr lang="zh-CN" sz="1400" b="0" i="0">
                        <a:solidFill>
                          <a:schemeClr val="tx1"/>
                        </a:solidFill>
                        <a:effectLst/>
                        <a:latin typeface="Helvetica Neue" panose="02000503000000020004" pitchFamily="2" charset="0"/>
                      </a:endParaRP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Helvetica Neue" panose="02000503000000020004" pitchFamily="2" charset="0"/>
                        </a:rPr>
                        <a:t>5.00e-4</a:t>
                      </a:r>
                    </a:p>
                  </a:txBody>
                  <a:tcPr marL="95250" marR="95250" marT="47625" marB="47625">
                    <a:lnL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4D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102655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5A5EA37-F266-CE5C-56AD-5D133F18AB5C}"/>
              </a:ext>
            </a:extLst>
          </p:cNvPr>
          <p:cNvSpPr txBox="1"/>
          <p:nvPr/>
        </p:nvSpPr>
        <p:spPr>
          <a:xfrm>
            <a:off x="838199" y="6334755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/>
              <a:t>最优模型</a:t>
            </a:r>
            <a:r>
              <a:rPr lang="en-US" altLang="zh-CN" sz="2000" dirty="0"/>
              <a:t>(epoch10, BLEU-4=20.28)</a:t>
            </a:r>
            <a:r>
              <a:rPr lang="zh-CN" altLang="zh-CN" sz="2000" dirty="0"/>
              <a:t>在测试集的翻译输出到pred.test.en.txt中。</a:t>
            </a:r>
          </a:p>
        </p:txBody>
      </p:sp>
    </p:spTree>
    <p:extLst>
      <p:ext uri="{BB962C8B-B14F-4D97-AF65-F5344CB8AC3E}">
        <p14:creationId xmlns:p14="http://schemas.microsoft.com/office/powerpoint/2010/main" val="544286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58EDD2-15A1-66E9-9887-CC4A05432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4446"/>
            <a:ext cx="10515600" cy="6049108"/>
          </a:xfrm>
        </p:spPr>
        <p:txBody>
          <a:bodyPr>
            <a:normAutofit lnSpcReduction="10000"/>
          </a:bodyPr>
          <a:lstStyle/>
          <a:p>
            <a:r>
              <a:rPr lang="zh-CN" altLang="zh-CN" sz="2000" b="1" dirty="0"/>
              <a:t>训练损失持续下降</a:t>
            </a:r>
            <a:endParaRPr lang="zh-CN" altLang="zh-CN" sz="2000" dirty="0"/>
          </a:p>
          <a:p>
            <a:pPr lvl="1"/>
            <a:r>
              <a:rPr lang="zh-CN" altLang="zh-CN" sz="1800" dirty="0"/>
              <a:t>训练损失从第 1 轮的 6.62 稳步降至第 10 轮的 3.05，降幅约 54%，表明模型在有效拟合训练数据。损失曲线平滑，未出现剧烈震荡，说明 Noam 调度与梯度裁剪起到了稳定训练的作用。</a:t>
            </a:r>
          </a:p>
          <a:p>
            <a:r>
              <a:rPr lang="zh-CN" altLang="zh-CN" sz="2000" b="1" dirty="0"/>
              <a:t>BLEU-4 快速提升后趋于收敛</a:t>
            </a:r>
            <a:endParaRPr lang="zh-CN" altLang="zh-CN" sz="2000" dirty="0"/>
          </a:p>
          <a:p>
            <a:pPr lvl="1"/>
            <a:r>
              <a:rPr lang="zh-CN" altLang="zh-CN" sz="1800" dirty="0"/>
              <a:t>前 3 个 epoch BLEU 从 4.07 快速升至 14.39，模型迅速学会基本的词序对齐与高频词翻译。</a:t>
            </a:r>
          </a:p>
          <a:p>
            <a:pPr lvl="1"/>
            <a:r>
              <a:rPr lang="zh-CN" altLang="zh-CN" sz="1800" dirty="0"/>
              <a:t>第 4–6 轮进入平台期后再次突破，BLEU 从 15.10 跃升至 19.11，可能与学习率衰减后模型开始精细调整有关。</a:t>
            </a:r>
          </a:p>
          <a:p>
            <a:pPr lvl="1"/>
            <a:r>
              <a:rPr lang="zh-CN" altLang="zh-CN" sz="1800" dirty="0"/>
              <a:t>第 7–10 轮 BLEU 在 19–20 之间波动，最终稳定在 20.28，显示模型已接近当前配置下的性能上限。</a:t>
            </a:r>
          </a:p>
          <a:p>
            <a:r>
              <a:rPr lang="zh-CN" altLang="zh-CN" sz="2000" b="1" dirty="0"/>
              <a:t>学习率调度效果</a:t>
            </a:r>
            <a:endParaRPr lang="zh-CN" altLang="zh-CN" sz="2000" dirty="0"/>
          </a:p>
          <a:p>
            <a:pPr lvl="1"/>
            <a:r>
              <a:rPr lang="zh-CN" altLang="zh-CN" sz="1800" dirty="0"/>
              <a:t>学习率在第 3 个 epoch 达到峰值约 9.13e-4（warmup 结束），之后按 Noam 公式逐步衰减至 5.00e-4。warmup 阶段避免了训练初期梯度过大导致的不稳定，衰减阶段则有助于模型收敛到更优解。</a:t>
            </a:r>
          </a:p>
          <a:p>
            <a:r>
              <a:rPr lang="zh-CN" altLang="zh-CN" sz="2000" b="1" dirty="0"/>
              <a:t>性能瓶颈分析</a:t>
            </a:r>
            <a:r>
              <a:rPr lang="zh-CN" altLang="en-US" sz="2000" b="1" dirty="0"/>
              <a:t>：</a:t>
            </a:r>
            <a:r>
              <a:rPr lang="zh-CN" altLang="zh-CN" sz="2000" dirty="0"/>
              <a:t>BLEU-4 约 20 分在 10 万规模语料、3 层 Transformer 的配置下属于合理水平，但仍有提升空间。主要限制因素包括：</a:t>
            </a:r>
          </a:p>
          <a:p>
            <a:pPr lvl="1"/>
            <a:r>
              <a:rPr lang="zh-CN" altLang="zh-CN" sz="1800" b="1" dirty="0"/>
              <a:t>模型规模较小</a:t>
            </a:r>
            <a:r>
              <a:rPr lang="zh-CN" altLang="zh-CN" sz="1800" dirty="0"/>
              <a:t>：3 层 Encoder/Decoder、256 维嵌入，参数量有限，对长句和低频词的建模能力不足。</a:t>
            </a:r>
          </a:p>
          <a:p>
            <a:pPr lvl="1"/>
            <a:r>
              <a:rPr lang="zh-CN" altLang="zh-CN" sz="1800" b="1" dirty="0"/>
              <a:t>贪心解码</a:t>
            </a:r>
            <a:r>
              <a:rPr lang="zh-CN" altLang="zh-CN" sz="1800" dirty="0"/>
              <a:t>：每步只取概率最高的词，无法探索多条候选路径，容易陷入局部最优。</a:t>
            </a:r>
          </a:p>
          <a:p>
            <a:pPr lvl="1"/>
            <a:r>
              <a:rPr lang="zh-CN" altLang="zh-CN" sz="1800" b="1" dirty="0"/>
              <a:t>无子词切分</a:t>
            </a:r>
            <a:r>
              <a:rPr lang="zh-CN" altLang="zh-CN" sz="1800" dirty="0"/>
              <a:t>：基于词级别的分词导致未登录词（OOV）映射为 &lt;unk&gt;，损失语义信息。</a:t>
            </a:r>
          </a:p>
          <a:p>
            <a:pPr lvl="1"/>
            <a:r>
              <a:rPr lang="zh-CN" altLang="zh-CN" sz="1800" b="1" dirty="0"/>
              <a:t>训练轮数有限</a:t>
            </a:r>
            <a:r>
              <a:rPr lang="zh-CN" altLang="zh-CN" sz="1800" dirty="0"/>
              <a:t>：第 8 轮 BLEU 出现小幅回落（19.10），第 9–10 轮才恢复，说明模型尚未完全收敛，增加 epoch 或使用早停策略可能有所帮助。</a:t>
            </a:r>
          </a:p>
        </p:txBody>
      </p:sp>
    </p:spTree>
    <p:extLst>
      <p:ext uri="{BB962C8B-B14F-4D97-AF65-F5344CB8AC3E}">
        <p14:creationId xmlns:p14="http://schemas.microsoft.com/office/powerpoint/2010/main" val="2043201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8028ED-5216-E4DF-5CFA-C16DAAFE8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总结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3E4BFD-C59A-E435-B821-4C393F273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本实验成功搭建了基于 Transformer 的中英机器翻译系统，在 NiuTrans 10 万句平行语料上训练 10 个 epoch，开发集 BLEU-4 达到 </a:t>
            </a:r>
            <a:r>
              <a:rPr lang="zh-CN" altLang="zh-CN" b="1" dirty="0"/>
              <a:t>20.28</a:t>
            </a:r>
            <a:r>
              <a:rPr lang="zh-CN" altLang="zh-CN" dirty="0"/>
              <a:t>。实验验证了 Transformer Encoder-Decoder 架构在神经机器翻译任务上的有效性，Noam 学习率预热与 Label Smoothing 对训练稳定性与泛化均有积极作用。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4954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1225</Words>
  <Application>Microsoft Macintosh PowerPoint</Application>
  <PresentationFormat>宽屏</PresentationFormat>
  <Paragraphs>98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Arial</vt:lpstr>
      <vt:lpstr>Cambria Math</vt:lpstr>
      <vt:lpstr>Helvetica Neue</vt:lpstr>
      <vt:lpstr>Office 主题​​</vt:lpstr>
      <vt:lpstr>实验四：基于 Transformer 的中英机器翻译</vt:lpstr>
      <vt:lpstr>概述</vt:lpstr>
      <vt:lpstr>整体流程 </vt:lpstr>
      <vt:lpstr>网络结构设计</vt:lpstr>
      <vt:lpstr>损失函数与优化器</vt:lpstr>
      <vt:lpstr>解码策略与评估指标</vt:lpstr>
      <vt:lpstr>实验结果与分析</vt:lpstr>
      <vt:lpstr>PowerPoint 演示文稿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立景 朱</dc:creator>
  <cp:lastModifiedBy>立景 朱</cp:lastModifiedBy>
  <cp:revision>2</cp:revision>
  <dcterms:created xsi:type="dcterms:W3CDTF">2026-06-19T12:27:37Z</dcterms:created>
  <dcterms:modified xsi:type="dcterms:W3CDTF">2026-06-19T12:46:57Z</dcterms:modified>
</cp:coreProperties>
</file>