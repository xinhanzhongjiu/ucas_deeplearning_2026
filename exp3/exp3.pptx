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5" r:id="rId9"/>
    <p:sldId id="263" r:id="rId10"/>
    <p:sldId id="264"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03"/>
    <p:restoredTop sz="94667"/>
  </p:normalViewPr>
  <p:slideViewPr>
    <p:cSldViewPr snapToGrid="0">
      <p:cViewPr varScale="1">
        <p:scale>
          <a:sx n="145" d="100"/>
          <a:sy n="145" d="100"/>
        </p:scale>
        <p:origin x="112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FA1B61-0E3B-850A-3D77-4221163D1275}"/>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1B5C52E0-ED4E-97D4-FCAE-07BA0B349E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7A35A4DD-4129-2C9C-CBA2-C00E363282DF}"/>
              </a:ext>
            </a:extLst>
          </p:cNvPr>
          <p:cNvSpPr>
            <a:spLocks noGrp="1"/>
          </p:cNvSpPr>
          <p:nvPr>
            <p:ph type="dt" sz="half" idx="10"/>
          </p:nvPr>
        </p:nvSpPr>
        <p:spPr/>
        <p:txBody>
          <a:bodyPr/>
          <a:lstStyle/>
          <a:p>
            <a:fld id="{E1696F54-C2E2-454F-80EC-35E34A406D4F}" type="datetimeFigureOut">
              <a:rPr kumimoji="1" lang="zh-CN" altLang="en-US" smtClean="0"/>
              <a:t>2026/6/19</a:t>
            </a:fld>
            <a:endParaRPr kumimoji="1" lang="zh-CN" altLang="en-US"/>
          </a:p>
        </p:txBody>
      </p:sp>
      <p:sp>
        <p:nvSpPr>
          <p:cNvPr id="5" name="页脚占位符 4">
            <a:extLst>
              <a:ext uri="{FF2B5EF4-FFF2-40B4-BE49-F238E27FC236}">
                <a16:creationId xmlns:a16="http://schemas.microsoft.com/office/drawing/2014/main" id="{7A95EB6C-D571-C979-8441-D54A4058BF14}"/>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35043E71-3752-8468-B659-6B879FD6266B}"/>
              </a:ext>
            </a:extLst>
          </p:cNvPr>
          <p:cNvSpPr>
            <a:spLocks noGrp="1"/>
          </p:cNvSpPr>
          <p:nvPr>
            <p:ph type="sldNum" sz="quarter" idx="12"/>
          </p:nvPr>
        </p:nvSpPr>
        <p:spPr/>
        <p:txBody>
          <a:bodyPr/>
          <a:lstStyle/>
          <a:p>
            <a:fld id="{81D7E768-3D34-8D49-9C38-D9362095B586}" type="slidenum">
              <a:rPr kumimoji="1" lang="zh-CN" altLang="en-US" smtClean="0"/>
              <a:t>‹#›</a:t>
            </a:fld>
            <a:endParaRPr kumimoji="1" lang="zh-CN" altLang="en-US"/>
          </a:p>
        </p:txBody>
      </p:sp>
    </p:spTree>
    <p:extLst>
      <p:ext uri="{BB962C8B-B14F-4D97-AF65-F5344CB8AC3E}">
        <p14:creationId xmlns:p14="http://schemas.microsoft.com/office/powerpoint/2010/main" val="34420672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B9DBE7-CBB4-4A89-1D28-576BFF852DAB}"/>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9ABE633E-70B7-F0E9-98F4-96CEFAB189B8}"/>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1D8AC6D3-91FF-75A8-A706-3664BFE2E6C5}"/>
              </a:ext>
            </a:extLst>
          </p:cNvPr>
          <p:cNvSpPr>
            <a:spLocks noGrp="1"/>
          </p:cNvSpPr>
          <p:nvPr>
            <p:ph type="dt" sz="half" idx="10"/>
          </p:nvPr>
        </p:nvSpPr>
        <p:spPr/>
        <p:txBody>
          <a:bodyPr/>
          <a:lstStyle/>
          <a:p>
            <a:fld id="{E1696F54-C2E2-454F-80EC-35E34A406D4F}" type="datetimeFigureOut">
              <a:rPr kumimoji="1" lang="zh-CN" altLang="en-US" smtClean="0"/>
              <a:t>2026/6/19</a:t>
            </a:fld>
            <a:endParaRPr kumimoji="1" lang="zh-CN" altLang="en-US"/>
          </a:p>
        </p:txBody>
      </p:sp>
      <p:sp>
        <p:nvSpPr>
          <p:cNvPr id="5" name="页脚占位符 4">
            <a:extLst>
              <a:ext uri="{FF2B5EF4-FFF2-40B4-BE49-F238E27FC236}">
                <a16:creationId xmlns:a16="http://schemas.microsoft.com/office/drawing/2014/main" id="{023D8E08-C024-C0DA-6EBA-68827FFD20FD}"/>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54DDD802-794E-C8EB-B3F5-37D518F50420}"/>
              </a:ext>
            </a:extLst>
          </p:cNvPr>
          <p:cNvSpPr>
            <a:spLocks noGrp="1"/>
          </p:cNvSpPr>
          <p:nvPr>
            <p:ph type="sldNum" sz="quarter" idx="12"/>
          </p:nvPr>
        </p:nvSpPr>
        <p:spPr/>
        <p:txBody>
          <a:bodyPr/>
          <a:lstStyle/>
          <a:p>
            <a:fld id="{81D7E768-3D34-8D49-9C38-D9362095B586}" type="slidenum">
              <a:rPr kumimoji="1" lang="zh-CN" altLang="en-US" smtClean="0"/>
              <a:t>‹#›</a:t>
            </a:fld>
            <a:endParaRPr kumimoji="1" lang="zh-CN" altLang="en-US"/>
          </a:p>
        </p:txBody>
      </p:sp>
    </p:spTree>
    <p:extLst>
      <p:ext uri="{BB962C8B-B14F-4D97-AF65-F5344CB8AC3E}">
        <p14:creationId xmlns:p14="http://schemas.microsoft.com/office/powerpoint/2010/main" val="38438961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432120-1958-07B0-1B47-F9AE997D7016}"/>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11AD7EC5-1FC5-C428-4167-DFC29A687B4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768B9E73-452D-010F-86ED-B6FBF5CE3631}"/>
              </a:ext>
            </a:extLst>
          </p:cNvPr>
          <p:cNvSpPr>
            <a:spLocks noGrp="1"/>
          </p:cNvSpPr>
          <p:nvPr>
            <p:ph type="dt" sz="half" idx="10"/>
          </p:nvPr>
        </p:nvSpPr>
        <p:spPr/>
        <p:txBody>
          <a:bodyPr/>
          <a:lstStyle/>
          <a:p>
            <a:fld id="{E1696F54-C2E2-454F-80EC-35E34A406D4F}" type="datetimeFigureOut">
              <a:rPr kumimoji="1" lang="zh-CN" altLang="en-US" smtClean="0"/>
              <a:t>2026/6/19</a:t>
            </a:fld>
            <a:endParaRPr kumimoji="1" lang="zh-CN" altLang="en-US"/>
          </a:p>
        </p:txBody>
      </p:sp>
      <p:sp>
        <p:nvSpPr>
          <p:cNvPr id="5" name="页脚占位符 4">
            <a:extLst>
              <a:ext uri="{FF2B5EF4-FFF2-40B4-BE49-F238E27FC236}">
                <a16:creationId xmlns:a16="http://schemas.microsoft.com/office/drawing/2014/main" id="{76C44DE9-CA84-CE6C-470F-5C13FE649BFD}"/>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C9DC2E95-CF87-54F9-B6DF-204CD3CAF27A}"/>
              </a:ext>
            </a:extLst>
          </p:cNvPr>
          <p:cNvSpPr>
            <a:spLocks noGrp="1"/>
          </p:cNvSpPr>
          <p:nvPr>
            <p:ph type="sldNum" sz="quarter" idx="12"/>
          </p:nvPr>
        </p:nvSpPr>
        <p:spPr/>
        <p:txBody>
          <a:bodyPr/>
          <a:lstStyle/>
          <a:p>
            <a:fld id="{81D7E768-3D34-8D49-9C38-D9362095B586}" type="slidenum">
              <a:rPr kumimoji="1" lang="zh-CN" altLang="en-US" smtClean="0"/>
              <a:t>‹#›</a:t>
            </a:fld>
            <a:endParaRPr kumimoji="1" lang="zh-CN" altLang="en-US"/>
          </a:p>
        </p:txBody>
      </p:sp>
    </p:spTree>
    <p:extLst>
      <p:ext uri="{BB962C8B-B14F-4D97-AF65-F5344CB8AC3E}">
        <p14:creationId xmlns:p14="http://schemas.microsoft.com/office/powerpoint/2010/main" val="42832387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086F47-405E-CDE1-0182-61230BB46AE0}"/>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404564D9-9170-F1D4-1CD7-00F4C84F2961}"/>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FA41821A-6010-E0CA-FE14-95B487CF35BE}"/>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C6FE5533-5902-BF62-E6AA-EF6C3E9C8154}"/>
              </a:ext>
            </a:extLst>
          </p:cNvPr>
          <p:cNvSpPr>
            <a:spLocks noGrp="1"/>
          </p:cNvSpPr>
          <p:nvPr>
            <p:ph type="dt" sz="half" idx="10"/>
          </p:nvPr>
        </p:nvSpPr>
        <p:spPr/>
        <p:txBody>
          <a:bodyPr/>
          <a:lstStyle/>
          <a:p>
            <a:fld id="{E1696F54-C2E2-454F-80EC-35E34A406D4F}" type="datetimeFigureOut">
              <a:rPr kumimoji="1" lang="zh-CN" altLang="en-US" smtClean="0"/>
              <a:t>2026/6/19</a:t>
            </a:fld>
            <a:endParaRPr kumimoji="1" lang="zh-CN" altLang="en-US"/>
          </a:p>
        </p:txBody>
      </p:sp>
      <p:sp>
        <p:nvSpPr>
          <p:cNvPr id="6" name="页脚占位符 5">
            <a:extLst>
              <a:ext uri="{FF2B5EF4-FFF2-40B4-BE49-F238E27FC236}">
                <a16:creationId xmlns:a16="http://schemas.microsoft.com/office/drawing/2014/main" id="{FFFF5FBA-3727-996D-3001-EF1778313786}"/>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072814FC-E91A-F6BA-8144-646D5F6C5917}"/>
              </a:ext>
            </a:extLst>
          </p:cNvPr>
          <p:cNvSpPr>
            <a:spLocks noGrp="1"/>
          </p:cNvSpPr>
          <p:nvPr>
            <p:ph type="sldNum" sz="quarter" idx="12"/>
          </p:nvPr>
        </p:nvSpPr>
        <p:spPr/>
        <p:txBody>
          <a:bodyPr/>
          <a:lstStyle/>
          <a:p>
            <a:fld id="{81D7E768-3D34-8D49-9C38-D9362095B586}" type="slidenum">
              <a:rPr kumimoji="1" lang="zh-CN" altLang="en-US" smtClean="0"/>
              <a:t>‹#›</a:t>
            </a:fld>
            <a:endParaRPr kumimoji="1" lang="zh-CN" altLang="en-US"/>
          </a:p>
        </p:txBody>
      </p:sp>
    </p:spTree>
    <p:extLst>
      <p:ext uri="{BB962C8B-B14F-4D97-AF65-F5344CB8AC3E}">
        <p14:creationId xmlns:p14="http://schemas.microsoft.com/office/powerpoint/2010/main" val="3889255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546734-9ACA-8EFE-C798-E2E1C5B26818}"/>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753098FD-2AEF-8BB9-24ED-F90FF37F14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641F62C4-4F48-ACD6-BB1F-186E353DC2E0}"/>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949FDEA8-E2E3-13E2-2ECE-DE2E1626DC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F9D8D7B2-B60D-B1F1-0B75-619FA8D1D761}"/>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E3626CEF-FB0A-63C3-D133-C888FB2596C3}"/>
              </a:ext>
            </a:extLst>
          </p:cNvPr>
          <p:cNvSpPr>
            <a:spLocks noGrp="1"/>
          </p:cNvSpPr>
          <p:nvPr>
            <p:ph type="dt" sz="half" idx="10"/>
          </p:nvPr>
        </p:nvSpPr>
        <p:spPr/>
        <p:txBody>
          <a:bodyPr/>
          <a:lstStyle/>
          <a:p>
            <a:fld id="{E1696F54-C2E2-454F-80EC-35E34A406D4F}" type="datetimeFigureOut">
              <a:rPr kumimoji="1" lang="zh-CN" altLang="en-US" smtClean="0"/>
              <a:t>2026/6/19</a:t>
            </a:fld>
            <a:endParaRPr kumimoji="1" lang="zh-CN" altLang="en-US"/>
          </a:p>
        </p:txBody>
      </p:sp>
      <p:sp>
        <p:nvSpPr>
          <p:cNvPr id="8" name="页脚占位符 7">
            <a:extLst>
              <a:ext uri="{FF2B5EF4-FFF2-40B4-BE49-F238E27FC236}">
                <a16:creationId xmlns:a16="http://schemas.microsoft.com/office/drawing/2014/main" id="{F6E58475-9D24-E89F-146E-83920095DEE0}"/>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5945FD5E-76DC-4559-F813-14F8836742DE}"/>
              </a:ext>
            </a:extLst>
          </p:cNvPr>
          <p:cNvSpPr>
            <a:spLocks noGrp="1"/>
          </p:cNvSpPr>
          <p:nvPr>
            <p:ph type="sldNum" sz="quarter" idx="12"/>
          </p:nvPr>
        </p:nvSpPr>
        <p:spPr/>
        <p:txBody>
          <a:bodyPr/>
          <a:lstStyle/>
          <a:p>
            <a:fld id="{81D7E768-3D34-8D49-9C38-D9362095B586}" type="slidenum">
              <a:rPr kumimoji="1" lang="zh-CN" altLang="en-US" smtClean="0"/>
              <a:t>‹#›</a:t>
            </a:fld>
            <a:endParaRPr kumimoji="1" lang="zh-CN" altLang="en-US"/>
          </a:p>
        </p:txBody>
      </p:sp>
    </p:spTree>
    <p:extLst>
      <p:ext uri="{BB962C8B-B14F-4D97-AF65-F5344CB8AC3E}">
        <p14:creationId xmlns:p14="http://schemas.microsoft.com/office/powerpoint/2010/main" val="33490341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6AB8DC-0606-2474-C337-CC310E1486AB}"/>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442CA0CA-9992-9932-09D8-89661A61C414}"/>
              </a:ext>
            </a:extLst>
          </p:cNvPr>
          <p:cNvSpPr>
            <a:spLocks noGrp="1"/>
          </p:cNvSpPr>
          <p:nvPr>
            <p:ph type="dt" sz="half" idx="10"/>
          </p:nvPr>
        </p:nvSpPr>
        <p:spPr/>
        <p:txBody>
          <a:bodyPr/>
          <a:lstStyle/>
          <a:p>
            <a:fld id="{E1696F54-C2E2-454F-80EC-35E34A406D4F}" type="datetimeFigureOut">
              <a:rPr kumimoji="1" lang="zh-CN" altLang="en-US" smtClean="0"/>
              <a:t>2026/6/19</a:t>
            </a:fld>
            <a:endParaRPr kumimoji="1" lang="zh-CN" altLang="en-US"/>
          </a:p>
        </p:txBody>
      </p:sp>
      <p:sp>
        <p:nvSpPr>
          <p:cNvPr id="4" name="页脚占位符 3">
            <a:extLst>
              <a:ext uri="{FF2B5EF4-FFF2-40B4-BE49-F238E27FC236}">
                <a16:creationId xmlns:a16="http://schemas.microsoft.com/office/drawing/2014/main" id="{A17FF75A-AC68-AF90-A226-FA8342FFA2A3}"/>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63EF09CE-3E5C-9A5E-41F8-D6067C0A28E2}"/>
              </a:ext>
            </a:extLst>
          </p:cNvPr>
          <p:cNvSpPr>
            <a:spLocks noGrp="1"/>
          </p:cNvSpPr>
          <p:nvPr>
            <p:ph type="sldNum" sz="quarter" idx="12"/>
          </p:nvPr>
        </p:nvSpPr>
        <p:spPr/>
        <p:txBody>
          <a:bodyPr/>
          <a:lstStyle/>
          <a:p>
            <a:fld id="{81D7E768-3D34-8D49-9C38-D9362095B586}" type="slidenum">
              <a:rPr kumimoji="1" lang="zh-CN" altLang="en-US" smtClean="0"/>
              <a:t>‹#›</a:t>
            </a:fld>
            <a:endParaRPr kumimoji="1" lang="zh-CN" altLang="en-US"/>
          </a:p>
        </p:txBody>
      </p:sp>
    </p:spTree>
    <p:extLst>
      <p:ext uri="{BB962C8B-B14F-4D97-AF65-F5344CB8AC3E}">
        <p14:creationId xmlns:p14="http://schemas.microsoft.com/office/powerpoint/2010/main" val="39232030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F44EA4E-6103-48AD-928E-0C6303A8F98C}"/>
              </a:ext>
            </a:extLst>
          </p:cNvPr>
          <p:cNvSpPr>
            <a:spLocks noGrp="1"/>
          </p:cNvSpPr>
          <p:nvPr>
            <p:ph type="dt" sz="half" idx="10"/>
          </p:nvPr>
        </p:nvSpPr>
        <p:spPr/>
        <p:txBody>
          <a:bodyPr/>
          <a:lstStyle/>
          <a:p>
            <a:fld id="{E1696F54-C2E2-454F-80EC-35E34A406D4F}" type="datetimeFigureOut">
              <a:rPr kumimoji="1" lang="zh-CN" altLang="en-US" smtClean="0"/>
              <a:t>2026/6/19</a:t>
            </a:fld>
            <a:endParaRPr kumimoji="1" lang="zh-CN" altLang="en-US"/>
          </a:p>
        </p:txBody>
      </p:sp>
      <p:sp>
        <p:nvSpPr>
          <p:cNvPr id="3" name="页脚占位符 2">
            <a:extLst>
              <a:ext uri="{FF2B5EF4-FFF2-40B4-BE49-F238E27FC236}">
                <a16:creationId xmlns:a16="http://schemas.microsoft.com/office/drawing/2014/main" id="{C2AF4918-F8D2-643A-876E-BA7D07FFE3A1}"/>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69F2F206-696E-1F36-8911-5474C21D5DB0}"/>
              </a:ext>
            </a:extLst>
          </p:cNvPr>
          <p:cNvSpPr>
            <a:spLocks noGrp="1"/>
          </p:cNvSpPr>
          <p:nvPr>
            <p:ph type="sldNum" sz="quarter" idx="12"/>
          </p:nvPr>
        </p:nvSpPr>
        <p:spPr/>
        <p:txBody>
          <a:bodyPr/>
          <a:lstStyle/>
          <a:p>
            <a:fld id="{81D7E768-3D34-8D49-9C38-D9362095B586}" type="slidenum">
              <a:rPr kumimoji="1" lang="zh-CN" altLang="en-US" smtClean="0"/>
              <a:t>‹#›</a:t>
            </a:fld>
            <a:endParaRPr kumimoji="1" lang="zh-CN" altLang="en-US"/>
          </a:p>
        </p:txBody>
      </p:sp>
    </p:spTree>
    <p:extLst>
      <p:ext uri="{BB962C8B-B14F-4D97-AF65-F5344CB8AC3E}">
        <p14:creationId xmlns:p14="http://schemas.microsoft.com/office/powerpoint/2010/main" val="8091666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87B3CF-D5C0-98BD-0733-309B119EFA34}"/>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0807811A-EB86-2867-343A-F971F762FC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6B2B507A-F5E6-DC11-3949-8E880A5AA0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BD26A413-4E64-96AF-4003-9383172D762D}"/>
              </a:ext>
            </a:extLst>
          </p:cNvPr>
          <p:cNvSpPr>
            <a:spLocks noGrp="1"/>
          </p:cNvSpPr>
          <p:nvPr>
            <p:ph type="dt" sz="half" idx="10"/>
          </p:nvPr>
        </p:nvSpPr>
        <p:spPr/>
        <p:txBody>
          <a:bodyPr/>
          <a:lstStyle/>
          <a:p>
            <a:fld id="{E1696F54-C2E2-454F-80EC-35E34A406D4F}" type="datetimeFigureOut">
              <a:rPr kumimoji="1" lang="zh-CN" altLang="en-US" smtClean="0"/>
              <a:t>2026/6/19</a:t>
            </a:fld>
            <a:endParaRPr kumimoji="1" lang="zh-CN" altLang="en-US"/>
          </a:p>
        </p:txBody>
      </p:sp>
      <p:sp>
        <p:nvSpPr>
          <p:cNvPr id="6" name="页脚占位符 5">
            <a:extLst>
              <a:ext uri="{FF2B5EF4-FFF2-40B4-BE49-F238E27FC236}">
                <a16:creationId xmlns:a16="http://schemas.microsoft.com/office/drawing/2014/main" id="{3B5CEEA4-C6BF-96F1-3124-D99292007745}"/>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136699C5-181F-318E-932F-7154BBCFB4C7}"/>
              </a:ext>
            </a:extLst>
          </p:cNvPr>
          <p:cNvSpPr>
            <a:spLocks noGrp="1"/>
          </p:cNvSpPr>
          <p:nvPr>
            <p:ph type="sldNum" sz="quarter" idx="12"/>
          </p:nvPr>
        </p:nvSpPr>
        <p:spPr/>
        <p:txBody>
          <a:bodyPr/>
          <a:lstStyle/>
          <a:p>
            <a:fld id="{81D7E768-3D34-8D49-9C38-D9362095B586}" type="slidenum">
              <a:rPr kumimoji="1" lang="zh-CN" altLang="en-US" smtClean="0"/>
              <a:t>‹#›</a:t>
            </a:fld>
            <a:endParaRPr kumimoji="1" lang="zh-CN" altLang="en-US"/>
          </a:p>
        </p:txBody>
      </p:sp>
    </p:spTree>
    <p:extLst>
      <p:ext uri="{BB962C8B-B14F-4D97-AF65-F5344CB8AC3E}">
        <p14:creationId xmlns:p14="http://schemas.microsoft.com/office/powerpoint/2010/main" val="24678265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65C303-362B-6B54-482A-41A13E970CF2}"/>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37C32076-797F-9B39-0040-7311A74107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BB1A69BA-0C29-2E52-F935-7644D90D7D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E875B44B-D6C1-4B9D-8AEC-1DF17C5D9E4A}"/>
              </a:ext>
            </a:extLst>
          </p:cNvPr>
          <p:cNvSpPr>
            <a:spLocks noGrp="1"/>
          </p:cNvSpPr>
          <p:nvPr>
            <p:ph type="dt" sz="half" idx="10"/>
          </p:nvPr>
        </p:nvSpPr>
        <p:spPr/>
        <p:txBody>
          <a:bodyPr/>
          <a:lstStyle/>
          <a:p>
            <a:fld id="{E1696F54-C2E2-454F-80EC-35E34A406D4F}" type="datetimeFigureOut">
              <a:rPr kumimoji="1" lang="zh-CN" altLang="en-US" smtClean="0"/>
              <a:t>2026/6/19</a:t>
            </a:fld>
            <a:endParaRPr kumimoji="1" lang="zh-CN" altLang="en-US"/>
          </a:p>
        </p:txBody>
      </p:sp>
      <p:sp>
        <p:nvSpPr>
          <p:cNvPr id="6" name="页脚占位符 5">
            <a:extLst>
              <a:ext uri="{FF2B5EF4-FFF2-40B4-BE49-F238E27FC236}">
                <a16:creationId xmlns:a16="http://schemas.microsoft.com/office/drawing/2014/main" id="{01689A47-D6BE-E846-355A-DA81D316A03F}"/>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E7CE7E3F-74A6-F27C-CE8A-2A7C60E08391}"/>
              </a:ext>
            </a:extLst>
          </p:cNvPr>
          <p:cNvSpPr>
            <a:spLocks noGrp="1"/>
          </p:cNvSpPr>
          <p:nvPr>
            <p:ph type="sldNum" sz="quarter" idx="12"/>
          </p:nvPr>
        </p:nvSpPr>
        <p:spPr/>
        <p:txBody>
          <a:bodyPr/>
          <a:lstStyle/>
          <a:p>
            <a:fld id="{81D7E768-3D34-8D49-9C38-D9362095B586}" type="slidenum">
              <a:rPr kumimoji="1" lang="zh-CN" altLang="en-US" smtClean="0"/>
              <a:t>‹#›</a:t>
            </a:fld>
            <a:endParaRPr kumimoji="1" lang="zh-CN" altLang="en-US"/>
          </a:p>
        </p:txBody>
      </p:sp>
    </p:spTree>
    <p:extLst>
      <p:ext uri="{BB962C8B-B14F-4D97-AF65-F5344CB8AC3E}">
        <p14:creationId xmlns:p14="http://schemas.microsoft.com/office/powerpoint/2010/main" val="14049904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CF14A0-874B-39A2-9BCA-EC8135448D7D}"/>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702EF952-605A-4177-8292-19552E0C4012}"/>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9ABA55D-E7FF-FC22-F7EE-3A85B554AE27}"/>
              </a:ext>
            </a:extLst>
          </p:cNvPr>
          <p:cNvSpPr>
            <a:spLocks noGrp="1"/>
          </p:cNvSpPr>
          <p:nvPr>
            <p:ph type="dt" sz="half" idx="10"/>
          </p:nvPr>
        </p:nvSpPr>
        <p:spPr/>
        <p:txBody>
          <a:bodyPr/>
          <a:lstStyle/>
          <a:p>
            <a:fld id="{E1696F54-C2E2-454F-80EC-35E34A406D4F}" type="datetimeFigureOut">
              <a:rPr kumimoji="1" lang="zh-CN" altLang="en-US" smtClean="0"/>
              <a:t>2026/6/19</a:t>
            </a:fld>
            <a:endParaRPr kumimoji="1" lang="zh-CN" altLang="en-US"/>
          </a:p>
        </p:txBody>
      </p:sp>
      <p:sp>
        <p:nvSpPr>
          <p:cNvPr id="5" name="页脚占位符 4">
            <a:extLst>
              <a:ext uri="{FF2B5EF4-FFF2-40B4-BE49-F238E27FC236}">
                <a16:creationId xmlns:a16="http://schemas.microsoft.com/office/drawing/2014/main" id="{96BFE193-644E-C404-46DE-18D0D12259E6}"/>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9C882740-1739-22F4-E8B5-36D111573D3A}"/>
              </a:ext>
            </a:extLst>
          </p:cNvPr>
          <p:cNvSpPr>
            <a:spLocks noGrp="1"/>
          </p:cNvSpPr>
          <p:nvPr>
            <p:ph type="sldNum" sz="quarter" idx="12"/>
          </p:nvPr>
        </p:nvSpPr>
        <p:spPr/>
        <p:txBody>
          <a:bodyPr/>
          <a:lstStyle/>
          <a:p>
            <a:fld id="{81D7E768-3D34-8D49-9C38-D9362095B586}" type="slidenum">
              <a:rPr kumimoji="1" lang="zh-CN" altLang="en-US" smtClean="0"/>
              <a:t>‹#›</a:t>
            </a:fld>
            <a:endParaRPr kumimoji="1" lang="zh-CN" altLang="en-US"/>
          </a:p>
        </p:txBody>
      </p:sp>
    </p:spTree>
    <p:extLst>
      <p:ext uri="{BB962C8B-B14F-4D97-AF65-F5344CB8AC3E}">
        <p14:creationId xmlns:p14="http://schemas.microsoft.com/office/powerpoint/2010/main" val="1608129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EF6C20B-A488-C7BC-46BD-9E429737BDB8}"/>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7AB021FF-CA4F-98D2-C2D9-AC095788CBE4}"/>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BEF9FAC1-C37A-1946-018D-2F543A4BBED4}"/>
              </a:ext>
            </a:extLst>
          </p:cNvPr>
          <p:cNvSpPr>
            <a:spLocks noGrp="1"/>
          </p:cNvSpPr>
          <p:nvPr>
            <p:ph type="dt" sz="half" idx="10"/>
          </p:nvPr>
        </p:nvSpPr>
        <p:spPr/>
        <p:txBody>
          <a:bodyPr/>
          <a:lstStyle/>
          <a:p>
            <a:fld id="{E1696F54-C2E2-454F-80EC-35E34A406D4F}" type="datetimeFigureOut">
              <a:rPr kumimoji="1" lang="zh-CN" altLang="en-US" smtClean="0"/>
              <a:t>2026/6/19</a:t>
            </a:fld>
            <a:endParaRPr kumimoji="1" lang="zh-CN" altLang="en-US"/>
          </a:p>
        </p:txBody>
      </p:sp>
      <p:sp>
        <p:nvSpPr>
          <p:cNvPr id="5" name="页脚占位符 4">
            <a:extLst>
              <a:ext uri="{FF2B5EF4-FFF2-40B4-BE49-F238E27FC236}">
                <a16:creationId xmlns:a16="http://schemas.microsoft.com/office/drawing/2014/main" id="{EE45F27F-B08D-8117-97C1-1912C5B13F21}"/>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950AE748-AF47-4B6D-F2FB-83D7454DD186}"/>
              </a:ext>
            </a:extLst>
          </p:cNvPr>
          <p:cNvSpPr>
            <a:spLocks noGrp="1"/>
          </p:cNvSpPr>
          <p:nvPr>
            <p:ph type="sldNum" sz="quarter" idx="12"/>
          </p:nvPr>
        </p:nvSpPr>
        <p:spPr/>
        <p:txBody>
          <a:bodyPr/>
          <a:lstStyle/>
          <a:p>
            <a:fld id="{81D7E768-3D34-8D49-9C38-D9362095B586}" type="slidenum">
              <a:rPr kumimoji="1" lang="zh-CN" altLang="en-US" smtClean="0"/>
              <a:t>‹#›</a:t>
            </a:fld>
            <a:endParaRPr kumimoji="1" lang="zh-CN" altLang="en-US"/>
          </a:p>
        </p:txBody>
      </p:sp>
    </p:spTree>
    <p:extLst>
      <p:ext uri="{BB962C8B-B14F-4D97-AF65-F5344CB8AC3E}">
        <p14:creationId xmlns:p14="http://schemas.microsoft.com/office/powerpoint/2010/main" val="3136789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E6C20AE-8488-3E46-B678-09CDF725C8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4302F8B0-B182-EE89-CD27-B5F2CB2259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C7BEECD5-D0BE-B9C3-B562-F38486988A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1696F54-C2E2-454F-80EC-35E34A406D4F}" type="datetimeFigureOut">
              <a:rPr kumimoji="1" lang="zh-CN" altLang="en-US" smtClean="0"/>
              <a:t>2026/6/19</a:t>
            </a:fld>
            <a:endParaRPr kumimoji="1" lang="zh-CN" altLang="en-US"/>
          </a:p>
        </p:txBody>
      </p:sp>
      <p:sp>
        <p:nvSpPr>
          <p:cNvPr id="5" name="页脚占位符 4">
            <a:extLst>
              <a:ext uri="{FF2B5EF4-FFF2-40B4-BE49-F238E27FC236}">
                <a16:creationId xmlns:a16="http://schemas.microsoft.com/office/drawing/2014/main" id="{99B64727-AA47-A714-2F6B-03FFBFE2C1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C79AC96F-5575-2933-33C2-ACE54D2322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1D7E768-3D34-8D49-9C38-D9362095B586}" type="slidenum">
              <a:rPr kumimoji="1" lang="zh-CN" altLang="en-US" smtClean="0"/>
              <a:t>‹#›</a:t>
            </a:fld>
            <a:endParaRPr kumimoji="1" lang="zh-CN" altLang="en-US"/>
          </a:p>
        </p:txBody>
      </p:sp>
    </p:spTree>
    <p:extLst>
      <p:ext uri="{BB962C8B-B14F-4D97-AF65-F5344CB8AC3E}">
        <p14:creationId xmlns:p14="http://schemas.microsoft.com/office/powerpoint/2010/main" val="19068068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99CC3A-AA13-34C9-2A29-C3464B02456C}"/>
              </a:ext>
            </a:extLst>
          </p:cNvPr>
          <p:cNvSpPr>
            <a:spLocks noGrp="1"/>
          </p:cNvSpPr>
          <p:nvPr>
            <p:ph type="ctrTitle"/>
          </p:nvPr>
        </p:nvSpPr>
        <p:spPr/>
        <p:txBody>
          <a:bodyPr/>
          <a:lstStyle/>
          <a:p>
            <a:r>
              <a:rPr lang="zh-CN" altLang="zh-CN" b="1" dirty="0"/>
              <a:t>实验三：基于 LSTM 的唐诗自动续写</a:t>
            </a:r>
            <a:endParaRPr kumimoji="1" lang="zh-CN" altLang="en-US" dirty="0"/>
          </a:p>
        </p:txBody>
      </p:sp>
      <p:sp>
        <p:nvSpPr>
          <p:cNvPr id="3" name="副标题 2">
            <a:extLst>
              <a:ext uri="{FF2B5EF4-FFF2-40B4-BE49-F238E27FC236}">
                <a16:creationId xmlns:a16="http://schemas.microsoft.com/office/drawing/2014/main" id="{F585778E-7DDA-D6F1-E673-8212A8252DA1}"/>
              </a:ext>
            </a:extLst>
          </p:cNvPr>
          <p:cNvSpPr>
            <a:spLocks noGrp="1"/>
          </p:cNvSpPr>
          <p:nvPr>
            <p:ph type="subTitle" idx="1"/>
          </p:nvPr>
        </p:nvSpPr>
        <p:spPr/>
        <p:txBody>
          <a:bodyPr/>
          <a:lstStyle/>
          <a:p>
            <a:r>
              <a:rPr lang="zh-CN" altLang="zh-CN" dirty="0"/>
              <a:t>朱立景 2025E8013282177</a:t>
            </a:r>
            <a:endParaRPr kumimoji="1" lang="zh-CN" altLang="en-US" dirty="0"/>
          </a:p>
        </p:txBody>
      </p:sp>
    </p:spTree>
    <p:extLst>
      <p:ext uri="{BB962C8B-B14F-4D97-AF65-F5344CB8AC3E}">
        <p14:creationId xmlns:p14="http://schemas.microsoft.com/office/powerpoint/2010/main" val="68267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A779F1-058E-E452-7B3C-0614EA14BE2D}"/>
              </a:ext>
            </a:extLst>
          </p:cNvPr>
          <p:cNvSpPr>
            <a:spLocks noGrp="1"/>
          </p:cNvSpPr>
          <p:nvPr>
            <p:ph type="title"/>
          </p:nvPr>
        </p:nvSpPr>
        <p:spPr/>
        <p:txBody>
          <a:bodyPr/>
          <a:lstStyle/>
          <a:p>
            <a:r>
              <a:rPr lang="zh-CN" altLang="zh-CN" b="1" dirty="0"/>
              <a:t>概述</a:t>
            </a:r>
            <a:endParaRPr kumimoji="1" lang="zh-CN" altLang="en-US" dirty="0"/>
          </a:p>
        </p:txBody>
      </p:sp>
      <p:sp>
        <p:nvSpPr>
          <p:cNvPr id="3" name="内容占位符 2">
            <a:extLst>
              <a:ext uri="{FF2B5EF4-FFF2-40B4-BE49-F238E27FC236}">
                <a16:creationId xmlns:a16="http://schemas.microsoft.com/office/drawing/2014/main" id="{29FA6225-0EEA-301F-2E0C-41E5C98FD943}"/>
              </a:ext>
            </a:extLst>
          </p:cNvPr>
          <p:cNvSpPr>
            <a:spLocks noGrp="1"/>
          </p:cNvSpPr>
          <p:nvPr>
            <p:ph idx="1"/>
          </p:nvPr>
        </p:nvSpPr>
        <p:spPr/>
        <p:txBody>
          <a:bodyPr>
            <a:normAutofit/>
          </a:bodyPr>
          <a:lstStyle/>
          <a:p>
            <a:r>
              <a:rPr lang="zh-CN" altLang="zh-CN" sz="2000" dirty="0"/>
              <a:t>本实验旨在构建一个能够根据用户给定首句自动续写唐诗的字符级语言模型。给定任意一句诗作为开头（如「湖光秋月两相和」），模型应续写出语义连贯、符合汉语表达习惯的后继诗句。</a:t>
            </a:r>
          </a:p>
          <a:p>
            <a:r>
              <a:rPr lang="zh-CN" altLang="zh-CN" sz="2000" b="1" dirty="0"/>
              <a:t>任务定义：</a:t>
            </a:r>
            <a:r>
              <a:rPr lang="zh-CN" altLang="zh-CN" sz="2000" dirty="0"/>
              <a:t> 将诗歌续写建模为字符级序列预测问题——给定前缀字符序列，逐字预测下一个汉字，直至生成结束符 &lt;EOP&gt;。</a:t>
            </a:r>
          </a:p>
          <a:p>
            <a:r>
              <a:rPr lang="zh-CN" altLang="zh-CN" sz="2000" b="1" dirty="0"/>
              <a:t>数据集：</a:t>
            </a:r>
            <a:r>
              <a:rPr lang="zh-CN" altLang="zh-CN" sz="2000" dirty="0"/>
              <a:t> 预处理后的唐诗数据集 tang.npz，共 57,580 首唐诗，词表大小 8,293，每首诗最大长度 125 个 token。</a:t>
            </a:r>
          </a:p>
          <a:p>
            <a:r>
              <a:rPr lang="zh-CN" altLang="zh-CN" sz="2000" b="1" dirty="0"/>
              <a:t>解决方案：</a:t>
            </a:r>
            <a:r>
              <a:rPr lang="zh-CN" altLang="zh-CN" sz="2000" dirty="0"/>
              <a:t> 在实验要求的基础组件（Embedding、LSTM、全连接层）之上，设计增强版 PoetryModel：3 层 LSTM 提取局部序列特征，叠加因果自注意力捕获长程依赖，双层全连接头完成下一字分类；采用交叉熵损失进行下一字预测训练，配合 AdamW 优化器与余弦学习率衰减；推理阶段使用 temperature + top-k 采样生成诗句。</a:t>
            </a:r>
          </a:p>
          <a:p>
            <a:r>
              <a:rPr lang="zh-CN" altLang="zh-CN" sz="2000" b="1" dirty="0"/>
              <a:t>运行环境：</a:t>
            </a:r>
            <a:r>
              <a:rPr lang="zh-CN" altLang="zh-CN" sz="2000" dirty="0"/>
              <a:t> Conda，Python 3.10，PyTorch 2.5.1 + CUDA，NVIDIA A800 GPU。</a:t>
            </a:r>
          </a:p>
        </p:txBody>
      </p:sp>
    </p:spTree>
    <p:extLst>
      <p:ext uri="{BB962C8B-B14F-4D97-AF65-F5344CB8AC3E}">
        <p14:creationId xmlns:p14="http://schemas.microsoft.com/office/powerpoint/2010/main" val="10903036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8D79E5-49A8-F6C0-E586-177F26174104}"/>
              </a:ext>
            </a:extLst>
          </p:cNvPr>
          <p:cNvSpPr>
            <a:spLocks noGrp="1"/>
          </p:cNvSpPr>
          <p:nvPr>
            <p:ph type="title"/>
          </p:nvPr>
        </p:nvSpPr>
        <p:spPr/>
        <p:txBody>
          <a:bodyPr/>
          <a:lstStyle/>
          <a:p>
            <a:r>
              <a:rPr lang="zh-CN" altLang="zh-CN" b="1" dirty="0"/>
              <a:t>网络结构设计</a:t>
            </a:r>
            <a:endParaRPr kumimoji="1" lang="zh-CN" altLang="en-US" dirty="0"/>
          </a:p>
        </p:txBody>
      </p:sp>
      <p:sp>
        <p:nvSpPr>
          <p:cNvPr id="3" name="内容占位符 2">
            <a:extLst>
              <a:ext uri="{FF2B5EF4-FFF2-40B4-BE49-F238E27FC236}">
                <a16:creationId xmlns:a16="http://schemas.microsoft.com/office/drawing/2014/main" id="{C876FE64-3AEE-00B2-058C-42A454771811}"/>
              </a:ext>
            </a:extLst>
          </p:cNvPr>
          <p:cNvSpPr>
            <a:spLocks noGrp="1"/>
          </p:cNvSpPr>
          <p:nvPr>
            <p:ph idx="1"/>
          </p:nvPr>
        </p:nvSpPr>
        <p:spPr/>
        <p:txBody>
          <a:bodyPr/>
          <a:lstStyle/>
          <a:p>
            <a:r>
              <a:rPr lang="zh-CN" altLang="zh-CN" dirty="0"/>
              <a:t>网络整体数据流为：</a:t>
            </a:r>
            <a:br>
              <a:rPr lang="en-US" altLang="zh-CN" dirty="0"/>
            </a:br>
            <a:r>
              <a:rPr lang="zh-CN" altLang="zh-CN" sz="2400" dirty="0"/>
              <a:t>字符索引 → Embedding(512) → 3层LSTM(768) → LayerNorm</a:t>
            </a:r>
            <a:br>
              <a:rPr lang="zh-CN" altLang="zh-CN" sz="2400" dirty="0"/>
            </a:br>
            <a:r>
              <a:rPr lang="zh-CN" altLang="zh-CN" sz="2400" dirty="0"/>
              <a:t>          → 因果Self-Attention(+残差) → LayerNorm → Dropout</a:t>
            </a:r>
            <a:br>
              <a:rPr lang="zh-CN" altLang="zh-CN" sz="2400" dirty="0"/>
            </a:br>
            <a:r>
              <a:rPr lang="zh-CN" altLang="zh-CN" sz="2400" dirty="0"/>
              <a:t>          → FC(768→512) → ReLU → FC(512→vocab) → 下一字 logits</a:t>
            </a:r>
          </a:p>
          <a:p>
            <a:r>
              <a:rPr lang="zh-CN" altLang="zh-CN" dirty="0"/>
              <a:t>模型总参数量约 </a:t>
            </a:r>
            <a:r>
              <a:rPr lang="zh-CN" altLang="zh-CN" b="1" dirty="0"/>
              <a:t>2,406 万</a:t>
            </a:r>
            <a:r>
              <a:rPr lang="zh-CN" altLang="zh-CN" dirty="0"/>
              <a:t>。在保留实验要求核心组件的同时，通过注意力机制与残差连接增强对诗歌对仗、句读和长程语义关联的建模能力。</a:t>
            </a:r>
          </a:p>
          <a:p>
            <a:endParaRPr kumimoji="1" lang="zh-CN" altLang="en-US" dirty="0"/>
          </a:p>
        </p:txBody>
      </p:sp>
    </p:spTree>
    <p:extLst>
      <p:ext uri="{BB962C8B-B14F-4D97-AF65-F5344CB8AC3E}">
        <p14:creationId xmlns:p14="http://schemas.microsoft.com/office/powerpoint/2010/main" val="38729314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617E73-84B7-ECB5-E791-0DBB9311CE2D}"/>
              </a:ext>
            </a:extLst>
          </p:cNvPr>
          <p:cNvSpPr>
            <a:spLocks noGrp="1"/>
          </p:cNvSpPr>
          <p:nvPr>
            <p:ph type="title"/>
          </p:nvPr>
        </p:nvSpPr>
        <p:spPr/>
        <p:txBody>
          <a:bodyPr/>
          <a:lstStyle/>
          <a:p>
            <a:r>
              <a:rPr lang="zh-CN" altLang="zh-CN" b="1" dirty="0"/>
              <a:t>损失函数设计</a:t>
            </a:r>
            <a:endParaRPr kumimoji="1" lang="zh-CN" altLang="en-US" dirty="0"/>
          </a:p>
        </p:txBody>
      </p:sp>
      <p:sp>
        <p:nvSpPr>
          <p:cNvPr id="3" name="内容占位符 2">
            <a:extLst>
              <a:ext uri="{FF2B5EF4-FFF2-40B4-BE49-F238E27FC236}">
                <a16:creationId xmlns:a16="http://schemas.microsoft.com/office/drawing/2014/main" id="{352353FB-5CD8-7E28-4DF5-251DDC06CCA9}"/>
              </a:ext>
            </a:extLst>
          </p:cNvPr>
          <p:cNvSpPr>
            <a:spLocks noGrp="1"/>
          </p:cNvSpPr>
          <p:nvPr>
            <p:ph idx="1"/>
          </p:nvPr>
        </p:nvSpPr>
        <p:spPr/>
        <p:txBody>
          <a:bodyPr/>
          <a:lstStyle/>
          <a:p>
            <a:r>
              <a:rPr lang="zh-CN" altLang="zh-CN" dirty="0"/>
              <a:t>采用</a:t>
            </a:r>
            <a:r>
              <a:rPr lang="zh-CN" altLang="zh-CN" b="1" dirty="0"/>
              <a:t>交叉熵损失</a:t>
            </a:r>
            <a:r>
              <a:rPr lang="zh-CN" altLang="zh-CN" dirty="0"/>
              <a:t>（CrossEntropyLoss）进行下一字预测（Language Modeling）：</a:t>
            </a:r>
          </a:p>
          <a:p>
            <a:pPr lvl="1"/>
            <a:r>
              <a:rPr lang="zh-CN" altLang="zh-CN" b="1" dirty="0"/>
              <a:t>输入/目标构造：</a:t>
            </a:r>
            <a:r>
              <a:rPr lang="zh-CN" altLang="zh-CN" dirty="0"/>
              <a:t> input = batch[:, :-1]，target = batch[:, 1:]，即每个位置预测下一个字符。</a:t>
            </a:r>
          </a:p>
          <a:p>
            <a:pPr lvl="1"/>
            <a:r>
              <a:rPr lang="zh-CN" altLang="zh-CN" b="1" dirty="0"/>
              <a:t>忽略填充：</a:t>
            </a:r>
            <a:r>
              <a:rPr lang="zh-CN" altLang="zh-CN" dirty="0"/>
              <a:t> ignore_index=8292（&lt;/s&gt;），不对填充位置计算损失。</a:t>
            </a:r>
          </a:p>
          <a:p>
            <a:pPr lvl="1"/>
            <a:r>
              <a:rPr lang="zh-CN" altLang="zh-CN" b="1" dirty="0"/>
              <a:t>标签平滑：</a:t>
            </a:r>
            <a:r>
              <a:rPr lang="zh-CN" altLang="zh-CN" dirty="0"/>
              <a:t> label_smoothing=0.1，防止模型过度自信，使生成文本更流畅。</a:t>
            </a:r>
            <a:endParaRPr lang="en-US" altLang="zh-CN" dirty="0"/>
          </a:p>
          <a:p>
            <a:r>
              <a:rPr lang="zh-CN" altLang="zh-CN" b="1" dirty="0"/>
              <a:t>评价指标：</a:t>
            </a:r>
            <a:r>
              <a:rPr lang="zh-CN" altLang="zh-CN" dirty="0"/>
              <a:t> 除 loss 外，以困惑度（Perplexity, PPL）衡量语言模型质量：PPL = exp(val_loss)，越低表示模型对测试数据的预测越准确。</a:t>
            </a:r>
          </a:p>
          <a:p>
            <a:endParaRPr kumimoji="1" lang="zh-CN" altLang="en-US" dirty="0"/>
          </a:p>
        </p:txBody>
      </p:sp>
    </p:spTree>
    <p:extLst>
      <p:ext uri="{BB962C8B-B14F-4D97-AF65-F5344CB8AC3E}">
        <p14:creationId xmlns:p14="http://schemas.microsoft.com/office/powerpoint/2010/main" val="7303715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0A0BC5-E9EA-1B88-DFF1-0E092237BEED}"/>
              </a:ext>
            </a:extLst>
          </p:cNvPr>
          <p:cNvSpPr>
            <a:spLocks noGrp="1"/>
          </p:cNvSpPr>
          <p:nvPr>
            <p:ph type="title"/>
          </p:nvPr>
        </p:nvSpPr>
        <p:spPr/>
        <p:txBody>
          <a:bodyPr/>
          <a:lstStyle/>
          <a:p>
            <a:r>
              <a:rPr lang="zh-CN" altLang="zh-CN" b="1" dirty="0"/>
              <a:t>优化器设计</a:t>
            </a:r>
            <a:endParaRPr kumimoji="1" lang="zh-CN" altLang="en-US" dirty="0"/>
          </a:p>
        </p:txBody>
      </p:sp>
      <p:graphicFrame>
        <p:nvGraphicFramePr>
          <p:cNvPr id="4" name="内容占位符 3">
            <a:extLst>
              <a:ext uri="{FF2B5EF4-FFF2-40B4-BE49-F238E27FC236}">
                <a16:creationId xmlns:a16="http://schemas.microsoft.com/office/drawing/2014/main" id="{987207A3-3CCC-41A3-3236-4077A12F991D}"/>
              </a:ext>
            </a:extLst>
          </p:cNvPr>
          <p:cNvGraphicFramePr>
            <a:graphicFrameLocks noGrp="1"/>
          </p:cNvGraphicFramePr>
          <p:nvPr>
            <p:ph idx="1"/>
            <p:extLst>
              <p:ext uri="{D42A27DB-BD31-4B8C-83A1-F6EECF244321}">
                <p14:modId xmlns:p14="http://schemas.microsoft.com/office/powerpoint/2010/main" val="3252613888"/>
              </p:ext>
            </p:extLst>
          </p:nvPr>
        </p:nvGraphicFramePr>
        <p:xfrm>
          <a:off x="1171575" y="2294793"/>
          <a:ext cx="9848850" cy="3200400"/>
        </p:xfrm>
        <a:graphic>
          <a:graphicData uri="http://schemas.openxmlformats.org/drawingml/2006/table">
            <a:tbl>
              <a:tblPr/>
              <a:tblGrid>
                <a:gridCol w="3282950">
                  <a:extLst>
                    <a:ext uri="{9D8B030D-6E8A-4147-A177-3AD203B41FA5}">
                      <a16:colId xmlns:a16="http://schemas.microsoft.com/office/drawing/2014/main" val="1037324775"/>
                    </a:ext>
                  </a:extLst>
                </a:gridCol>
                <a:gridCol w="3282950">
                  <a:extLst>
                    <a:ext uri="{9D8B030D-6E8A-4147-A177-3AD203B41FA5}">
                      <a16:colId xmlns:a16="http://schemas.microsoft.com/office/drawing/2014/main" val="472344721"/>
                    </a:ext>
                  </a:extLst>
                </a:gridCol>
                <a:gridCol w="3282950">
                  <a:extLst>
                    <a:ext uri="{9D8B030D-6E8A-4147-A177-3AD203B41FA5}">
                      <a16:colId xmlns:a16="http://schemas.microsoft.com/office/drawing/2014/main" val="1461306615"/>
                    </a:ext>
                  </a:extLst>
                </a:gridCol>
              </a:tblGrid>
              <a:tr h="0">
                <a:tc>
                  <a:txBody>
                    <a:bodyPr/>
                    <a:lstStyle/>
                    <a:p>
                      <a:pPr marL="0" marR="0" algn="l" fontAlgn="t">
                        <a:buNone/>
                      </a:pPr>
                      <a:r>
                        <a:rPr lang="zh-CN" sz="1600" b="1" i="0">
                          <a:solidFill>
                            <a:schemeClr val="tx1"/>
                          </a:solidFill>
                          <a:effectLst/>
                          <a:latin typeface="Helvetica Neue" panose="02000503000000020004" pitchFamily="2" charset="0"/>
                        </a:rPr>
                        <a:t>配置项</a:t>
                      </a:r>
                    </a:p>
                  </a:txBody>
                  <a:tcPr marL="95250" marR="95250" marT="47625" marB="47625">
                    <a:lnL w="9525" cap="flat" cmpd="sng" algn="ctr">
                      <a:solidFill>
                        <a:srgbClr val="20376A"/>
                      </a:solidFill>
                      <a:prstDash val="solid"/>
                      <a:round/>
                      <a:headEnd type="none" w="med" len="med"/>
                      <a:tailEnd type="none" w="med" len="med"/>
                    </a:lnL>
                    <a:lnR w="9525" cap="flat" cmpd="sng" algn="ctr">
                      <a:solidFill>
                        <a:srgbClr val="602C6A"/>
                      </a:solidFill>
                      <a:prstDash val="solid"/>
                      <a:round/>
                      <a:headEnd type="none" w="med" len="med"/>
                      <a:tailEnd type="none" w="med" len="med"/>
                    </a:lnR>
                    <a:lnT w="9525" cap="flat" cmpd="sng" algn="ctr">
                      <a:solidFill>
                        <a:srgbClr val="20376A"/>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600" b="1" i="0">
                          <a:solidFill>
                            <a:schemeClr val="tx1"/>
                          </a:solidFill>
                          <a:effectLst/>
                          <a:latin typeface="Helvetica Neue" panose="02000503000000020004" pitchFamily="2" charset="0"/>
                        </a:rPr>
                        <a:t>取值</a:t>
                      </a:r>
                    </a:p>
                  </a:txBody>
                  <a:tcPr marL="95250" marR="95250" marT="47625" marB="47625">
                    <a:lnL w="9525" cap="flat" cmpd="sng" algn="ctr">
                      <a:solidFill>
                        <a:srgbClr val="602C6A"/>
                      </a:solidFill>
                      <a:prstDash val="solid"/>
                      <a:round/>
                      <a:headEnd type="none" w="med" len="med"/>
                      <a:tailEnd type="none" w="med" len="med"/>
                    </a:lnL>
                    <a:lnR w="9525" cap="flat" cmpd="sng" algn="ctr">
                      <a:solidFill>
                        <a:srgbClr val="E0096A"/>
                      </a:solidFill>
                      <a:prstDash val="solid"/>
                      <a:round/>
                      <a:headEnd type="none" w="med" len="med"/>
                      <a:tailEnd type="none" w="med" len="med"/>
                    </a:lnR>
                    <a:lnT w="9525" cap="flat" cmpd="sng" algn="ctr">
                      <a:solidFill>
                        <a:srgbClr val="602C6A"/>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600" b="1" i="0">
                          <a:solidFill>
                            <a:schemeClr val="tx1"/>
                          </a:solidFill>
                          <a:effectLst/>
                          <a:latin typeface="Helvetica Neue" panose="02000503000000020004" pitchFamily="2" charset="0"/>
                        </a:rPr>
                        <a:t>说明</a:t>
                      </a:r>
                    </a:p>
                  </a:txBody>
                  <a:tcPr marL="95250" marR="95250" marT="47625" marB="47625">
                    <a:lnL w="9525" cap="flat" cmpd="sng" algn="ctr">
                      <a:solidFill>
                        <a:srgbClr val="E0096A"/>
                      </a:solidFill>
                      <a:prstDash val="solid"/>
                      <a:round/>
                      <a:headEnd type="none" w="med" len="med"/>
                      <a:tailEnd type="none" w="med" len="med"/>
                    </a:lnL>
                    <a:lnR w="9525" cap="flat" cmpd="sng" algn="ctr">
                      <a:solidFill>
                        <a:srgbClr val="E0096A"/>
                      </a:solidFill>
                      <a:prstDash val="solid"/>
                      <a:round/>
                      <a:headEnd type="none" w="med" len="med"/>
                      <a:tailEnd type="none" w="med" len="med"/>
                    </a:lnR>
                    <a:lnT w="9525" cap="flat" cmpd="sng" algn="ctr">
                      <a:solidFill>
                        <a:srgbClr val="E0096A"/>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extLst>
                  <a:ext uri="{0D108BD9-81ED-4DB2-BD59-A6C34878D82A}">
                    <a16:rowId xmlns:a16="http://schemas.microsoft.com/office/drawing/2014/main" val="1941053258"/>
                  </a:ext>
                </a:extLst>
              </a:tr>
              <a:tr h="0">
                <a:tc>
                  <a:txBody>
                    <a:bodyPr/>
                    <a:lstStyle/>
                    <a:p>
                      <a:pPr marL="0" marR="0" algn="l" fontAlgn="t">
                        <a:buNone/>
                      </a:pPr>
                      <a:r>
                        <a:rPr lang="zh-CN" sz="1600" b="0" i="0">
                          <a:solidFill>
                            <a:schemeClr val="tx1"/>
                          </a:solidFill>
                          <a:effectLst/>
                          <a:latin typeface="Helvetica Neue" panose="02000503000000020004" pitchFamily="2" charset="0"/>
                        </a:rPr>
                        <a:t>优化器</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600" b="0" i="0" dirty="0">
                          <a:solidFill>
                            <a:schemeClr val="tx1"/>
                          </a:solidFill>
                          <a:effectLst/>
                          <a:latin typeface="Helvetica Neue" panose="02000503000000020004" pitchFamily="2" charset="0"/>
                        </a:rPr>
                        <a:t>AdamW</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600" b="0" i="0">
                          <a:solidFill>
                            <a:schemeClr val="tx1"/>
                          </a:solidFill>
                          <a:effectLst/>
                          <a:latin typeface="Helvetica Neue" panose="02000503000000020004" pitchFamily="2" charset="0"/>
                        </a:rPr>
                        <a:t>带权重衰减的自适应优化，适合大规模参数</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extLst>
                  <a:ext uri="{0D108BD9-81ED-4DB2-BD59-A6C34878D82A}">
                    <a16:rowId xmlns:a16="http://schemas.microsoft.com/office/drawing/2014/main" val="3728921005"/>
                  </a:ext>
                </a:extLst>
              </a:tr>
              <a:tr h="0">
                <a:tc>
                  <a:txBody>
                    <a:bodyPr/>
                    <a:lstStyle/>
                    <a:p>
                      <a:pPr marL="0" marR="0" algn="l" fontAlgn="t">
                        <a:buNone/>
                      </a:pPr>
                      <a:r>
                        <a:rPr lang="zh-CN" sz="1600" b="0" i="0">
                          <a:solidFill>
                            <a:schemeClr val="tx1"/>
                          </a:solidFill>
                          <a:effectLst/>
                          <a:latin typeface="Helvetica Neue" panose="02000503000000020004" pitchFamily="2" charset="0"/>
                        </a:rPr>
                        <a:t>学习率</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600" b="0" i="0" dirty="0">
                          <a:solidFill>
                            <a:schemeClr val="tx1"/>
                          </a:solidFill>
                          <a:effectLst/>
                          <a:latin typeface="Helvetica Neue" panose="02000503000000020004" pitchFamily="2" charset="0"/>
                        </a:rPr>
                        <a:t>1e-3</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600" b="0" i="0">
                          <a:solidFill>
                            <a:schemeClr val="tx1"/>
                          </a:solidFill>
                          <a:effectLst/>
                          <a:latin typeface="Helvetica Neue" panose="02000503000000020004" pitchFamily="2" charset="0"/>
                        </a:rPr>
                        <a:t>初始学习率</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extLst>
                  <a:ext uri="{0D108BD9-81ED-4DB2-BD59-A6C34878D82A}">
                    <a16:rowId xmlns:a16="http://schemas.microsoft.com/office/drawing/2014/main" val="1924150040"/>
                  </a:ext>
                </a:extLst>
              </a:tr>
              <a:tr h="0">
                <a:tc>
                  <a:txBody>
                    <a:bodyPr/>
                    <a:lstStyle/>
                    <a:p>
                      <a:pPr marL="0" marR="0" algn="l" fontAlgn="t">
                        <a:buNone/>
                      </a:pPr>
                      <a:r>
                        <a:rPr lang="zh-CN" sz="1600" b="0" i="0">
                          <a:solidFill>
                            <a:schemeClr val="tx1"/>
                          </a:solidFill>
                          <a:effectLst/>
                          <a:latin typeface="Helvetica Neue" panose="02000503000000020004" pitchFamily="2" charset="0"/>
                        </a:rPr>
                        <a:t>权重衰减</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600" b="0" i="0">
                          <a:solidFill>
                            <a:schemeClr val="tx1"/>
                          </a:solidFill>
                          <a:effectLst/>
                          <a:latin typeface="Helvetica Neue" panose="02000503000000020004" pitchFamily="2" charset="0"/>
                        </a:rPr>
                        <a:t>1e-4</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600" b="0" i="0" dirty="0">
                          <a:solidFill>
                            <a:schemeClr val="tx1"/>
                          </a:solidFill>
                          <a:effectLst/>
                          <a:latin typeface="Helvetica Neue" panose="02000503000000020004" pitchFamily="2" charset="0"/>
                        </a:rPr>
                        <a:t>L2 正则，抑制过拟合</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extLst>
                  <a:ext uri="{0D108BD9-81ED-4DB2-BD59-A6C34878D82A}">
                    <a16:rowId xmlns:a16="http://schemas.microsoft.com/office/drawing/2014/main" val="2364390051"/>
                  </a:ext>
                </a:extLst>
              </a:tr>
              <a:tr h="0">
                <a:tc>
                  <a:txBody>
                    <a:bodyPr/>
                    <a:lstStyle/>
                    <a:p>
                      <a:pPr marL="0" marR="0" algn="l" fontAlgn="t">
                        <a:buNone/>
                      </a:pPr>
                      <a:r>
                        <a:rPr lang="zh-CN" sz="1600" b="0" i="0">
                          <a:solidFill>
                            <a:schemeClr val="tx1"/>
                          </a:solidFill>
                          <a:effectLst/>
                          <a:latin typeface="Helvetica Neue" panose="02000503000000020004" pitchFamily="2" charset="0"/>
                        </a:rPr>
                        <a:t>学习率调度</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600" b="0" i="0">
                          <a:solidFill>
                            <a:schemeClr val="tx1"/>
                          </a:solidFill>
                          <a:effectLst/>
                          <a:latin typeface="Helvetica Neue" panose="02000503000000020004" pitchFamily="2" charset="0"/>
                        </a:rPr>
                        <a:t>CosineAnnealingLR</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600" b="0" i="0">
                          <a:solidFill>
                            <a:schemeClr val="tx1"/>
                          </a:solidFill>
                          <a:effectLst/>
                          <a:latin typeface="Helvetica Neue" panose="02000503000000020004" pitchFamily="2" charset="0"/>
                        </a:rPr>
                        <a:t>30 epoch 内余弦退火，平滑降低学习率</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extLst>
                  <a:ext uri="{0D108BD9-81ED-4DB2-BD59-A6C34878D82A}">
                    <a16:rowId xmlns:a16="http://schemas.microsoft.com/office/drawing/2014/main" val="3202894624"/>
                  </a:ext>
                </a:extLst>
              </a:tr>
              <a:tr h="0">
                <a:tc>
                  <a:txBody>
                    <a:bodyPr/>
                    <a:lstStyle/>
                    <a:p>
                      <a:pPr marL="0" marR="0" algn="l" fontAlgn="t">
                        <a:buNone/>
                      </a:pPr>
                      <a:r>
                        <a:rPr lang="zh-CN" sz="1600" b="0" i="0">
                          <a:solidFill>
                            <a:schemeClr val="tx1"/>
                          </a:solidFill>
                          <a:effectLst/>
                          <a:latin typeface="Helvetica Neue" panose="02000503000000020004" pitchFamily="2" charset="0"/>
                        </a:rPr>
                        <a:t>梯度裁剪</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600" b="0" i="0">
                          <a:solidFill>
                            <a:schemeClr val="tx1"/>
                          </a:solidFill>
                          <a:effectLst/>
                          <a:latin typeface="Helvetica Neue" panose="02000503000000020004" pitchFamily="2" charset="0"/>
                        </a:rPr>
                        <a:t>max_norm=5.0</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600" b="0" i="0">
                          <a:solidFill>
                            <a:schemeClr val="tx1"/>
                          </a:solidFill>
                          <a:effectLst/>
                          <a:latin typeface="Helvetica Neue" panose="02000503000000020004" pitchFamily="2" charset="0"/>
                        </a:rPr>
                        <a:t>防止 LSTM 训练中梯度爆炸</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extLst>
                  <a:ext uri="{0D108BD9-81ED-4DB2-BD59-A6C34878D82A}">
                    <a16:rowId xmlns:a16="http://schemas.microsoft.com/office/drawing/2014/main" val="2347176299"/>
                  </a:ext>
                </a:extLst>
              </a:tr>
              <a:tr h="0">
                <a:tc>
                  <a:txBody>
                    <a:bodyPr/>
                    <a:lstStyle/>
                    <a:p>
                      <a:pPr marL="0" marR="0" algn="l" fontAlgn="t">
                        <a:buNone/>
                      </a:pPr>
                      <a:r>
                        <a:rPr lang="zh-CN" sz="1600" b="0" i="0">
                          <a:solidFill>
                            <a:schemeClr val="tx1"/>
                          </a:solidFill>
                          <a:effectLst/>
                          <a:latin typeface="Helvetica Neue" panose="02000503000000020004" pitchFamily="2" charset="0"/>
                        </a:rPr>
                        <a:t>Batch Size</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600" b="0" i="0">
                          <a:solidFill>
                            <a:schemeClr val="tx1"/>
                          </a:solidFill>
                          <a:effectLst/>
                          <a:latin typeface="Helvetica Neue" panose="02000503000000020004" pitchFamily="2" charset="0"/>
                        </a:rPr>
                        <a:t>128</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600" b="0" i="0">
                          <a:solidFill>
                            <a:schemeClr val="tx1"/>
                          </a:solidFill>
                          <a:effectLst/>
                          <a:latin typeface="Helvetica Neue" panose="02000503000000020004" pitchFamily="2" charset="0"/>
                        </a:rPr>
                        <a:t>平衡训练速度与显存占用</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extLst>
                  <a:ext uri="{0D108BD9-81ED-4DB2-BD59-A6C34878D82A}">
                    <a16:rowId xmlns:a16="http://schemas.microsoft.com/office/drawing/2014/main" val="1744716708"/>
                  </a:ext>
                </a:extLst>
              </a:tr>
              <a:tr h="0">
                <a:tc>
                  <a:txBody>
                    <a:bodyPr/>
                    <a:lstStyle/>
                    <a:p>
                      <a:pPr marL="0" marR="0" algn="l" fontAlgn="t">
                        <a:buNone/>
                      </a:pPr>
                      <a:r>
                        <a:rPr lang="zh-CN" sz="1600" b="0" i="0">
                          <a:solidFill>
                            <a:schemeClr val="tx1"/>
                          </a:solidFill>
                          <a:effectLst/>
                          <a:latin typeface="Helvetica Neue" panose="02000503000000020004" pitchFamily="2" charset="0"/>
                        </a:rPr>
                        <a:t>Epochs</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600" b="0" i="0">
                          <a:solidFill>
                            <a:schemeClr val="tx1"/>
                          </a:solidFill>
                          <a:effectLst/>
                          <a:latin typeface="Helvetica Neue" panose="02000503000000020004" pitchFamily="2" charset="0"/>
                        </a:rPr>
                        <a:t>30</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600" b="0" i="0" dirty="0">
                          <a:solidFill>
                            <a:schemeClr val="tx1"/>
                          </a:solidFill>
                          <a:effectLst/>
                          <a:latin typeface="Helvetica Neue" panose="02000503000000020004" pitchFamily="2" charset="0"/>
                        </a:rPr>
                        <a:t>约 15 分钟/epoch（GPU）</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extLst>
                  <a:ext uri="{0D108BD9-81ED-4DB2-BD59-A6C34878D82A}">
                    <a16:rowId xmlns:a16="http://schemas.microsoft.com/office/drawing/2014/main" val="2883339799"/>
                  </a:ext>
                </a:extLst>
              </a:tr>
            </a:tbl>
          </a:graphicData>
        </a:graphic>
      </p:graphicFrame>
    </p:spTree>
    <p:extLst>
      <p:ext uri="{BB962C8B-B14F-4D97-AF65-F5344CB8AC3E}">
        <p14:creationId xmlns:p14="http://schemas.microsoft.com/office/powerpoint/2010/main" val="36562760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C1399C-FCB7-D7A2-6171-F72A41A86E6D}"/>
              </a:ext>
            </a:extLst>
          </p:cNvPr>
          <p:cNvSpPr>
            <a:spLocks noGrp="1"/>
          </p:cNvSpPr>
          <p:nvPr>
            <p:ph type="title"/>
          </p:nvPr>
        </p:nvSpPr>
        <p:spPr/>
        <p:txBody>
          <a:bodyPr/>
          <a:lstStyle/>
          <a:p>
            <a:r>
              <a:rPr lang="zh-CN" altLang="zh-CN" b="1" dirty="0"/>
              <a:t>创新点</a:t>
            </a:r>
            <a:endParaRPr kumimoji="1" lang="zh-CN" altLang="en-US" dirty="0"/>
          </a:p>
        </p:txBody>
      </p:sp>
      <p:sp>
        <p:nvSpPr>
          <p:cNvPr id="3" name="内容占位符 2">
            <a:extLst>
              <a:ext uri="{FF2B5EF4-FFF2-40B4-BE49-F238E27FC236}">
                <a16:creationId xmlns:a16="http://schemas.microsoft.com/office/drawing/2014/main" id="{22F305EC-AA28-3328-145A-511E74118627}"/>
              </a:ext>
            </a:extLst>
          </p:cNvPr>
          <p:cNvSpPr>
            <a:spLocks noGrp="1"/>
          </p:cNvSpPr>
          <p:nvPr>
            <p:ph idx="1"/>
          </p:nvPr>
        </p:nvSpPr>
        <p:spPr/>
        <p:txBody>
          <a:bodyPr>
            <a:normAutofit/>
          </a:bodyPr>
          <a:lstStyle/>
          <a:p>
            <a:r>
              <a:rPr lang="zh-CN" altLang="zh-CN" sz="2400" b="1" dirty="0"/>
              <a:t>因果自注意力 + 残差连接：</a:t>
            </a:r>
            <a:r>
              <a:rPr lang="zh-CN" altLang="zh-CN" sz="2400" dirty="0"/>
              <a:t> LSTM 擅长建模局部顺序，但对长距离对仗、意象呼应的捕获有限；叠加因果注意力后，每个字可"回看"全部前文，同时残差连接保留 LSTM 的原始表征，二者互补。</a:t>
            </a:r>
          </a:p>
          <a:p>
            <a:r>
              <a:rPr lang="zh-CN" altLang="zh-CN" sz="2400" b="1" dirty="0"/>
              <a:t>左填充数据对齐：</a:t>
            </a:r>
            <a:r>
              <a:rPr lang="zh-CN" altLang="zh-CN" sz="2400" dirty="0"/>
              <a:t> 原始 tang.npz 中诗句以左填充（&lt;/s&gt;）方式存储，直接训练会导致注意力在填充区域产生 NaN。设计 _left_align() 将序列统一对齐为 &lt;START&gt;诗句&lt;EOP&gt;&lt;/s&gt;... 格式，是保障训练稳定的关键预处理步骤。</a:t>
            </a:r>
          </a:p>
          <a:p>
            <a:r>
              <a:rPr lang="zh-CN" altLang="zh-CN" sz="2400" b="1" dirty="0"/>
              <a:t>temperature + top-k 采样：</a:t>
            </a:r>
            <a:r>
              <a:rPr lang="zh-CN" altLang="zh-CN" sz="2400" dirty="0"/>
              <a:t> 推理时不采用贪心解码（易导致重复），而是在概率最高的 top-5 候选字中按温度系数 0.8 随机采样，兼顾确定性与多样性，生成更具诗意的文本。</a:t>
            </a:r>
          </a:p>
          <a:p>
            <a:endParaRPr kumimoji="1" lang="zh-CN" altLang="en-US" sz="2400" dirty="0"/>
          </a:p>
        </p:txBody>
      </p:sp>
    </p:spTree>
    <p:extLst>
      <p:ext uri="{BB962C8B-B14F-4D97-AF65-F5344CB8AC3E}">
        <p14:creationId xmlns:p14="http://schemas.microsoft.com/office/powerpoint/2010/main" val="11996062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94963C-F1A3-FB70-0F96-81045E047E6A}"/>
              </a:ext>
            </a:extLst>
          </p:cNvPr>
          <p:cNvSpPr>
            <a:spLocks noGrp="1"/>
          </p:cNvSpPr>
          <p:nvPr>
            <p:ph type="title"/>
          </p:nvPr>
        </p:nvSpPr>
        <p:spPr/>
        <p:txBody>
          <a:bodyPr/>
          <a:lstStyle/>
          <a:p>
            <a:r>
              <a:rPr lang="zh-CN" altLang="zh-CN" b="1" dirty="0"/>
              <a:t>实验分析</a:t>
            </a:r>
            <a:endParaRPr kumimoji="1" lang="zh-CN" altLang="en-US" dirty="0"/>
          </a:p>
        </p:txBody>
      </p:sp>
      <p:sp>
        <p:nvSpPr>
          <p:cNvPr id="3" name="内容占位符 2">
            <a:extLst>
              <a:ext uri="{FF2B5EF4-FFF2-40B4-BE49-F238E27FC236}">
                <a16:creationId xmlns:a16="http://schemas.microsoft.com/office/drawing/2014/main" id="{5B1E82BA-E37A-E00C-C562-2FBBFDEB79D3}"/>
              </a:ext>
            </a:extLst>
          </p:cNvPr>
          <p:cNvSpPr>
            <a:spLocks noGrp="1"/>
          </p:cNvSpPr>
          <p:nvPr>
            <p:ph idx="1"/>
          </p:nvPr>
        </p:nvSpPr>
        <p:spPr/>
        <p:txBody>
          <a:bodyPr/>
          <a:lstStyle/>
          <a:p>
            <a:r>
              <a:rPr lang="zh-CN" altLang="zh-CN" b="1" dirty="0"/>
              <a:t>最佳验证 loss：</a:t>
            </a:r>
            <a:r>
              <a:rPr lang="zh-CN" altLang="zh-CN" dirty="0"/>
              <a:t> 5.0810（第 18 epoch）</a:t>
            </a:r>
          </a:p>
          <a:p>
            <a:r>
              <a:rPr lang="zh-CN" altLang="zh-CN" b="1" dirty="0"/>
              <a:t>最佳困惑度：</a:t>
            </a:r>
            <a:r>
              <a:rPr lang="zh-CN" altLang="zh-CN" dirty="0"/>
              <a:t> 160.93</a:t>
            </a:r>
          </a:p>
          <a:p>
            <a:r>
              <a:rPr lang="zh-CN" altLang="zh-CN" b="1" dirty="0"/>
              <a:t>总参数量：</a:t>
            </a:r>
            <a:r>
              <a:rPr lang="zh-CN" altLang="zh-CN" dirty="0"/>
              <a:t> 24,056,677</a:t>
            </a:r>
          </a:p>
          <a:p>
            <a:r>
              <a:rPr lang="zh-CN" altLang="zh-CN" b="1" dirty="0"/>
              <a:t>总训练时间：</a:t>
            </a:r>
            <a:r>
              <a:rPr lang="zh-CN" altLang="zh-CN" dirty="0"/>
              <a:t> 约 16 分钟（30 epoch）</a:t>
            </a:r>
          </a:p>
        </p:txBody>
      </p:sp>
      <p:graphicFrame>
        <p:nvGraphicFramePr>
          <p:cNvPr id="7" name="表格 6">
            <a:extLst>
              <a:ext uri="{FF2B5EF4-FFF2-40B4-BE49-F238E27FC236}">
                <a16:creationId xmlns:a16="http://schemas.microsoft.com/office/drawing/2014/main" id="{2BAD98DB-DA42-42B0-64B9-CE232584144B}"/>
              </a:ext>
            </a:extLst>
          </p:cNvPr>
          <p:cNvGraphicFramePr>
            <a:graphicFrameLocks noGrp="1"/>
          </p:cNvGraphicFramePr>
          <p:nvPr>
            <p:extLst>
              <p:ext uri="{D42A27DB-BD31-4B8C-83A1-F6EECF244321}">
                <p14:modId xmlns:p14="http://schemas.microsoft.com/office/powerpoint/2010/main" val="4136259616"/>
              </p:ext>
            </p:extLst>
          </p:nvPr>
        </p:nvGraphicFramePr>
        <p:xfrm>
          <a:off x="1504950" y="4016693"/>
          <a:ext cx="9182100" cy="2160270"/>
        </p:xfrm>
        <a:graphic>
          <a:graphicData uri="http://schemas.openxmlformats.org/drawingml/2006/table">
            <a:tbl>
              <a:tblPr/>
              <a:tblGrid>
                <a:gridCol w="1836420">
                  <a:extLst>
                    <a:ext uri="{9D8B030D-6E8A-4147-A177-3AD203B41FA5}">
                      <a16:colId xmlns:a16="http://schemas.microsoft.com/office/drawing/2014/main" val="1687405395"/>
                    </a:ext>
                  </a:extLst>
                </a:gridCol>
                <a:gridCol w="1836420">
                  <a:extLst>
                    <a:ext uri="{9D8B030D-6E8A-4147-A177-3AD203B41FA5}">
                      <a16:colId xmlns:a16="http://schemas.microsoft.com/office/drawing/2014/main" val="3026212865"/>
                    </a:ext>
                  </a:extLst>
                </a:gridCol>
                <a:gridCol w="1836420">
                  <a:extLst>
                    <a:ext uri="{9D8B030D-6E8A-4147-A177-3AD203B41FA5}">
                      <a16:colId xmlns:a16="http://schemas.microsoft.com/office/drawing/2014/main" val="3465996717"/>
                    </a:ext>
                  </a:extLst>
                </a:gridCol>
                <a:gridCol w="1836420">
                  <a:extLst>
                    <a:ext uri="{9D8B030D-6E8A-4147-A177-3AD203B41FA5}">
                      <a16:colId xmlns:a16="http://schemas.microsoft.com/office/drawing/2014/main" val="3479106955"/>
                    </a:ext>
                  </a:extLst>
                </a:gridCol>
                <a:gridCol w="1836420">
                  <a:extLst>
                    <a:ext uri="{9D8B030D-6E8A-4147-A177-3AD203B41FA5}">
                      <a16:colId xmlns:a16="http://schemas.microsoft.com/office/drawing/2014/main" val="1927232563"/>
                    </a:ext>
                  </a:extLst>
                </a:gridCol>
              </a:tblGrid>
              <a:tr h="0">
                <a:tc>
                  <a:txBody>
                    <a:bodyPr/>
                    <a:lstStyle/>
                    <a:p>
                      <a:pPr marL="0" marR="0" algn="l" fontAlgn="t">
                        <a:buNone/>
                      </a:pPr>
                      <a:r>
                        <a:rPr lang="zh-CN" sz="1400" b="1" i="0">
                          <a:solidFill>
                            <a:schemeClr val="tx1"/>
                          </a:solidFill>
                          <a:effectLst/>
                          <a:latin typeface="Helvetica Neue" panose="02000503000000020004" pitchFamily="2" charset="0"/>
                        </a:rPr>
                        <a:t>Epoch</a:t>
                      </a:r>
                    </a:p>
                  </a:txBody>
                  <a:tcPr marL="95250" marR="95250" marT="47625" marB="47625">
                    <a:lnL w="9525" cap="flat" cmpd="sng" algn="ctr">
                      <a:solidFill>
                        <a:srgbClr val="20AC4A"/>
                      </a:solidFill>
                      <a:prstDash val="solid"/>
                      <a:round/>
                      <a:headEnd type="none" w="med" len="med"/>
                      <a:tailEnd type="none" w="med" len="med"/>
                    </a:lnL>
                    <a:lnR w="9525" cap="flat" cmpd="sng" algn="ctr">
                      <a:solidFill>
                        <a:srgbClr val="40B04A"/>
                      </a:solidFill>
                      <a:prstDash val="solid"/>
                      <a:round/>
                      <a:headEnd type="none" w="med" len="med"/>
                      <a:tailEnd type="none" w="med" len="med"/>
                    </a:lnR>
                    <a:lnT w="9525" cap="flat" cmpd="sng" algn="ctr">
                      <a:solidFill>
                        <a:srgbClr val="20AC4A"/>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400" b="1" i="0">
                          <a:solidFill>
                            <a:schemeClr val="tx1"/>
                          </a:solidFill>
                          <a:effectLst/>
                          <a:latin typeface="Helvetica Neue" panose="02000503000000020004" pitchFamily="2" charset="0"/>
                        </a:rPr>
                        <a:t>Train Loss</a:t>
                      </a:r>
                    </a:p>
                  </a:txBody>
                  <a:tcPr marL="95250" marR="95250" marT="47625" marB="47625">
                    <a:lnL w="9525" cap="flat" cmpd="sng" algn="ctr">
                      <a:solidFill>
                        <a:srgbClr val="40B04A"/>
                      </a:solidFill>
                      <a:prstDash val="solid"/>
                      <a:round/>
                      <a:headEnd type="none" w="med" len="med"/>
                      <a:tailEnd type="none" w="med" len="med"/>
                    </a:lnL>
                    <a:lnR w="9525" cap="flat" cmpd="sng" algn="ctr">
                      <a:solidFill>
                        <a:srgbClr val="609A4A"/>
                      </a:solidFill>
                      <a:prstDash val="solid"/>
                      <a:round/>
                      <a:headEnd type="none" w="med" len="med"/>
                      <a:tailEnd type="none" w="med" len="med"/>
                    </a:lnR>
                    <a:lnT w="9525" cap="flat" cmpd="sng" algn="ctr">
                      <a:solidFill>
                        <a:srgbClr val="40B04A"/>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400" b="1" i="0">
                          <a:solidFill>
                            <a:schemeClr val="tx1"/>
                          </a:solidFill>
                          <a:effectLst/>
                          <a:latin typeface="Helvetica Neue" panose="02000503000000020004" pitchFamily="2" charset="0"/>
                        </a:rPr>
                        <a:t>Val Loss</a:t>
                      </a:r>
                    </a:p>
                  </a:txBody>
                  <a:tcPr marL="95250" marR="95250" marT="47625" marB="47625">
                    <a:lnL w="9525" cap="flat" cmpd="sng" algn="ctr">
                      <a:solidFill>
                        <a:srgbClr val="609A4A"/>
                      </a:solidFill>
                      <a:prstDash val="solid"/>
                      <a:round/>
                      <a:headEnd type="none" w="med" len="med"/>
                      <a:tailEnd type="none" w="med" len="med"/>
                    </a:lnL>
                    <a:lnR w="9525" cap="flat" cmpd="sng" algn="ctr">
                      <a:solidFill>
                        <a:srgbClr val="40BA4A"/>
                      </a:solidFill>
                      <a:prstDash val="solid"/>
                      <a:round/>
                      <a:headEnd type="none" w="med" len="med"/>
                      <a:tailEnd type="none" w="med" len="med"/>
                    </a:lnR>
                    <a:lnT w="9525" cap="flat" cmpd="sng" algn="ctr">
                      <a:solidFill>
                        <a:srgbClr val="609A4A"/>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400" b="1" i="0">
                          <a:solidFill>
                            <a:schemeClr val="tx1"/>
                          </a:solidFill>
                          <a:effectLst/>
                          <a:latin typeface="Helvetica Neue" panose="02000503000000020004" pitchFamily="2" charset="0"/>
                        </a:rPr>
                        <a:t>Perplexity</a:t>
                      </a:r>
                    </a:p>
                  </a:txBody>
                  <a:tcPr marL="95250" marR="95250" marT="47625" marB="47625">
                    <a:lnL w="9525" cap="flat" cmpd="sng" algn="ctr">
                      <a:solidFill>
                        <a:srgbClr val="40BA4A"/>
                      </a:solidFill>
                      <a:prstDash val="solid"/>
                      <a:round/>
                      <a:headEnd type="none" w="med" len="med"/>
                      <a:tailEnd type="none" w="med" len="med"/>
                    </a:lnL>
                    <a:lnR w="9525" cap="flat" cmpd="sng" algn="ctr">
                      <a:solidFill>
                        <a:srgbClr val="E0B24A"/>
                      </a:solidFill>
                      <a:prstDash val="solid"/>
                      <a:round/>
                      <a:headEnd type="none" w="med" len="med"/>
                      <a:tailEnd type="none" w="med" len="med"/>
                    </a:lnR>
                    <a:lnT w="9525" cap="flat" cmpd="sng" algn="ctr">
                      <a:solidFill>
                        <a:srgbClr val="40BA4A"/>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400" b="1" i="0">
                          <a:solidFill>
                            <a:schemeClr val="tx1"/>
                          </a:solidFill>
                          <a:effectLst/>
                          <a:latin typeface="Helvetica Neue" panose="02000503000000020004" pitchFamily="2" charset="0"/>
                        </a:rPr>
                        <a:t>耗时</a:t>
                      </a:r>
                    </a:p>
                  </a:txBody>
                  <a:tcPr marL="95250" marR="95250" marT="47625" marB="47625">
                    <a:lnL w="9525" cap="flat" cmpd="sng" algn="ctr">
                      <a:solidFill>
                        <a:srgbClr val="E0B24A"/>
                      </a:solidFill>
                      <a:prstDash val="solid"/>
                      <a:round/>
                      <a:headEnd type="none" w="med" len="med"/>
                      <a:tailEnd type="none" w="med" len="med"/>
                    </a:lnL>
                    <a:lnR w="9525" cap="flat" cmpd="sng" algn="ctr">
                      <a:solidFill>
                        <a:srgbClr val="E0B24A"/>
                      </a:solidFill>
                      <a:prstDash val="solid"/>
                      <a:round/>
                      <a:headEnd type="none" w="med" len="med"/>
                      <a:tailEnd type="none" w="med" len="med"/>
                    </a:lnR>
                    <a:lnT w="9525" cap="flat" cmpd="sng" algn="ctr">
                      <a:solidFill>
                        <a:srgbClr val="E0B24A"/>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extLst>
                  <a:ext uri="{0D108BD9-81ED-4DB2-BD59-A6C34878D82A}">
                    <a16:rowId xmlns:a16="http://schemas.microsoft.com/office/drawing/2014/main" val="252142858"/>
                  </a:ext>
                </a:extLst>
              </a:tr>
              <a:tr h="0">
                <a:tc>
                  <a:txBody>
                    <a:bodyPr/>
                    <a:lstStyle/>
                    <a:p>
                      <a:pPr marL="0" marR="0" algn="l" fontAlgn="t">
                        <a:buNone/>
                      </a:pPr>
                      <a:r>
                        <a:rPr lang="zh-CN" sz="1400" b="0" i="0">
                          <a:solidFill>
                            <a:schemeClr val="tx1"/>
                          </a:solidFill>
                          <a:effectLst/>
                          <a:latin typeface="Helvetica Neue" panose="02000503000000020004" pitchFamily="2" charset="0"/>
                        </a:rPr>
                        <a:t>1</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400" b="0" i="0">
                          <a:solidFill>
                            <a:schemeClr val="tx1"/>
                          </a:solidFill>
                          <a:effectLst/>
                          <a:latin typeface="Helvetica Neue" panose="02000503000000020004" pitchFamily="2" charset="0"/>
                        </a:rPr>
                        <a:t>6.5837</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400" b="0" i="0" dirty="0">
                          <a:solidFill>
                            <a:schemeClr val="tx1"/>
                          </a:solidFill>
                          <a:effectLst/>
                          <a:latin typeface="Helvetica Neue" panose="02000503000000020004" pitchFamily="2" charset="0"/>
                        </a:rPr>
                        <a:t>6.4010</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400" b="0" i="0">
                          <a:solidFill>
                            <a:schemeClr val="tx1"/>
                          </a:solidFill>
                          <a:effectLst/>
                          <a:latin typeface="Helvetica Neue" panose="02000503000000020004" pitchFamily="2" charset="0"/>
                        </a:rPr>
                        <a:t>602.45</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400" b="0" i="0">
                          <a:solidFill>
                            <a:schemeClr val="tx1"/>
                          </a:solidFill>
                          <a:effectLst/>
                          <a:latin typeface="Helvetica Neue" panose="02000503000000020004" pitchFamily="2" charset="0"/>
                        </a:rPr>
                        <a:t>31.1s</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extLst>
                  <a:ext uri="{0D108BD9-81ED-4DB2-BD59-A6C34878D82A}">
                    <a16:rowId xmlns:a16="http://schemas.microsoft.com/office/drawing/2014/main" val="1437826395"/>
                  </a:ext>
                </a:extLst>
              </a:tr>
              <a:tr h="0">
                <a:tc>
                  <a:txBody>
                    <a:bodyPr/>
                    <a:lstStyle/>
                    <a:p>
                      <a:pPr marL="0" marR="0" algn="l" fontAlgn="t">
                        <a:buNone/>
                      </a:pPr>
                      <a:r>
                        <a:rPr lang="zh-CN" sz="1400" b="0" i="0">
                          <a:solidFill>
                            <a:schemeClr val="tx1"/>
                          </a:solidFill>
                          <a:effectLst/>
                          <a:latin typeface="Helvetica Neue" panose="02000503000000020004" pitchFamily="2" charset="0"/>
                        </a:rPr>
                        <a:t>5</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400" b="0" i="0">
                          <a:solidFill>
                            <a:schemeClr val="tx1"/>
                          </a:solidFill>
                          <a:effectLst/>
                          <a:latin typeface="Helvetica Neue" panose="02000503000000020004" pitchFamily="2" charset="0"/>
                        </a:rPr>
                        <a:t>5.4625</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400" b="0" i="0" dirty="0">
                          <a:solidFill>
                            <a:schemeClr val="tx1"/>
                          </a:solidFill>
                          <a:effectLst/>
                          <a:latin typeface="Helvetica Neue" panose="02000503000000020004" pitchFamily="2" charset="0"/>
                        </a:rPr>
                        <a:t>5.3898</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400" b="0" i="0">
                          <a:solidFill>
                            <a:schemeClr val="tx1"/>
                          </a:solidFill>
                          <a:effectLst/>
                          <a:latin typeface="Helvetica Neue" panose="02000503000000020004" pitchFamily="2" charset="0"/>
                        </a:rPr>
                        <a:t>219.17</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400" b="0" i="0">
                          <a:solidFill>
                            <a:schemeClr val="tx1"/>
                          </a:solidFill>
                          <a:effectLst/>
                          <a:latin typeface="Helvetica Neue" panose="02000503000000020004" pitchFamily="2" charset="0"/>
                        </a:rPr>
                        <a:t>30.5s</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extLst>
                  <a:ext uri="{0D108BD9-81ED-4DB2-BD59-A6C34878D82A}">
                    <a16:rowId xmlns:a16="http://schemas.microsoft.com/office/drawing/2014/main" val="38115208"/>
                  </a:ext>
                </a:extLst>
              </a:tr>
              <a:tr h="0">
                <a:tc>
                  <a:txBody>
                    <a:bodyPr/>
                    <a:lstStyle/>
                    <a:p>
                      <a:pPr marL="0" marR="0" algn="l" fontAlgn="t">
                        <a:buNone/>
                      </a:pPr>
                      <a:r>
                        <a:rPr lang="zh-CN" sz="1400" b="0" i="0">
                          <a:solidFill>
                            <a:schemeClr val="tx1"/>
                          </a:solidFill>
                          <a:effectLst/>
                          <a:latin typeface="Helvetica Neue" panose="02000503000000020004" pitchFamily="2" charset="0"/>
                        </a:rPr>
                        <a:t>10</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400" b="0" i="0">
                          <a:solidFill>
                            <a:schemeClr val="tx1"/>
                          </a:solidFill>
                          <a:effectLst/>
                          <a:latin typeface="Helvetica Neue" panose="02000503000000020004" pitchFamily="2" charset="0"/>
                        </a:rPr>
                        <a:t>5.0201</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400" b="0" i="0">
                          <a:solidFill>
                            <a:schemeClr val="tx1"/>
                          </a:solidFill>
                          <a:effectLst/>
                          <a:latin typeface="Helvetica Neue" panose="02000503000000020004" pitchFamily="2" charset="0"/>
                        </a:rPr>
                        <a:t>5.1386</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400" b="0" i="0">
                          <a:solidFill>
                            <a:schemeClr val="tx1"/>
                          </a:solidFill>
                          <a:effectLst/>
                          <a:latin typeface="Helvetica Neue" panose="02000503000000020004" pitchFamily="2" charset="0"/>
                        </a:rPr>
                        <a:t>170.48</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400" b="0" i="0">
                          <a:solidFill>
                            <a:schemeClr val="tx1"/>
                          </a:solidFill>
                          <a:effectLst/>
                          <a:latin typeface="Helvetica Neue" panose="02000503000000020004" pitchFamily="2" charset="0"/>
                        </a:rPr>
                        <a:t>30.9s</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extLst>
                  <a:ext uri="{0D108BD9-81ED-4DB2-BD59-A6C34878D82A}">
                    <a16:rowId xmlns:a16="http://schemas.microsoft.com/office/drawing/2014/main" val="122480051"/>
                  </a:ext>
                </a:extLst>
              </a:tr>
              <a:tr h="0">
                <a:tc>
                  <a:txBody>
                    <a:bodyPr/>
                    <a:lstStyle/>
                    <a:p>
                      <a:pPr marL="0" marR="0" algn="l" fontAlgn="t">
                        <a:buNone/>
                      </a:pPr>
                      <a:r>
                        <a:rPr lang="zh-CN" sz="1400" b="0" i="0">
                          <a:solidFill>
                            <a:schemeClr val="tx1"/>
                          </a:solidFill>
                          <a:effectLst/>
                          <a:latin typeface="Helvetica Neue" panose="02000503000000020004" pitchFamily="2" charset="0"/>
                        </a:rPr>
                        <a:t>15</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400" b="0" i="0">
                          <a:solidFill>
                            <a:schemeClr val="tx1"/>
                          </a:solidFill>
                          <a:effectLst/>
                          <a:latin typeface="Helvetica Neue" panose="02000503000000020004" pitchFamily="2" charset="0"/>
                        </a:rPr>
                        <a:t>4.7825</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400" b="0" i="0">
                          <a:solidFill>
                            <a:schemeClr val="tx1"/>
                          </a:solidFill>
                          <a:effectLst/>
                          <a:latin typeface="Helvetica Neue" panose="02000503000000020004" pitchFamily="2" charset="0"/>
                        </a:rPr>
                        <a:t>5.0835</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400" b="0" i="0">
                          <a:solidFill>
                            <a:schemeClr val="tx1"/>
                          </a:solidFill>
                          <a:effectLst/>
                          <a:latin typeface="Helvetica Neue" panose="02000503000000020004" pitchFamily="2" charset="0"/>
                        </a:rPr>
                        <a:t>161.34</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400" b="0" i="0">
                          <a:solidFill>
                            <a:schemeClr val="tx1"/>
                          </a:solidFill>
                          <a:effectLst/>
                          <a:latin typeface="Helvetica Neue" panose="02000503000000020004" pitchFamily="2" charset="0"/>
                        </a:rPr>
                        <a:t>30.8s</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extLst>
                  <a:ext uri="{0D108BD9-81ED-4DB2-BD59-A6C34878D82A}">
                    <a16:rowId xmlns:a16="http://schemas.microsoft.com/office/drawing/2014/main" val="1264499036"/>
                  </a:ext>
                </a:extLst>
              </a:tr>
              <a:tr h="0">
                <a:tc>
                  <a:txBody>
                    <a:bodyPr/>
                    <a:lstStyle/>
                    <a:p>
                      <a:pPr marL="0" marR="0" algn="l" fontAlgn="t">
                        <a:buNone/>
                      </a:pPr>
                      <a:r>
                        <a:rPr lang="zh-CN" sz="1400" b="0" i="0">
                          <a:solidFill>
                            <a:schemeClr val="tx1"/>
                          </a:solidFill>
                          <a:effectLst/>
                          <a:latin typeface="Helvetica Neue" panose="02000503000000020004" pitchFamily="2" charset="0"/>
                        </a:rPr>
                        <a:t>18</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400" b="0" i="0">
                          <a:solidFill>
                            <a:schemeClr val="tx1"/>
                          </a:solidFill>
                          <a:effectLst/>
                          <a:latin typeface="Helvetica Neue" panose="02000503000000020004" pitchFamily="2" charset="0"/>
                        </a:rPr>
                        <a:t>4.6748</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400" b="1" i="0">
                          <a:solidFill>
                            <a:schemeClr val="tx1"/>
                          </a:solidFill>
                          <a:effectLst/>
                          <a:latin typeface="Helvetica Neue" panose="02000503000000020004" pitchFamily="2" charset="0"/>
                        </a:rPr>
                        <a:t>5.0810</a:t>
                      </a:r>
                      <a:endParaRPr lang="zh-CN" sz="1400" b="0" i="0">
                        <a:solidFill>
                          <a:schemeClr val="tx1"/>
                        </a:solidFill>
                        <a:effectLst/>
                        <a:latin typeface="Helvetica Neue" panose="02000503000000020004" pitchFamily="2" charset="0"/>
                      </a:endParaRP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400" b="1" i="0">
                          <a:solidFill>
                            <a:schemeClr val="tx1"/>
                          </a:solidFill>
                          <a:effectLst/>
                          <a:latin typeface="Helvetica Neue" panose="02000503000000020004" pitchFamily="2" charset="0"/>
                        </a:rPr>
                        <a:t>160.93</a:t>
                      </a:r>
                      <a:endParaRPr lang="zh-CN" sz="1400" b="0" i="0">
                        <a:solidFill>
                          <a:schemeClr val="tx1"/>
                        </a:solidFill>
                        <a:effectLst/>
                        <a:latin typeface="Helvetica Neue" panose="02000503000000020004" pitchFamily="2" charset="0"/>
                      </a:endParaRP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400" b="0" i="0">
                          <a:solidFill>
                            <a:schemeClr val="tx1"/>
                          </a:solidFill>
                          <a:effectLst/>
                          <a:latin typeface="Helvetica Neue" panose="02000503000000020004" pitchFamily="2" charset="0"/>
                        </a:rPr>
                        <a:t>31.2s</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extLst>
                  <a:ext uri="{0D108BD9-81ED-4DB2-BD59-A6C34878D82A}">
                    <a16:rowId xmlns:a16="http://schemas.microsoft.com/office/drawing/2014/main" val="1968403607"/>
                  </a:ext>
                </a:extLst>
              </a:tr>
              <a:tr h="0">
                <a:tc>
                  <a:txBody>
                    <a:bodyPr/>
                    <a:lstStyle/>
                    <a:p>
                      <a:pPr marL="0" marR="0" algn="l" fontAlgn="t">
                        <a:buNone/>
                      </a:pPr>
                      <a:r>
                        <a:rPr lang="zh-CN" sz="1400" b="0" i="0">
                          <a:solidFill>
                            <a:schemeClr val="tx1"/>
                          </a:solidFill>
                          <a:effectLst/>
                          <a:latin typeface="Helvetica Neue" panose="02000503000000020004" pitchFamily="2" charset="0"/>
                        </a:rPr>
                        <a:t>30</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400" b="0" i="0">
                          <a:solidFill>
                            <a:schemeClr val="tx1"/>
                          </a:solidFill>
                          <a:effectLst/>
                          <a:latin typeface="Helvetica Neue" panose="02000503000000020004" pitchFamily="2" charset="0"/>
                        </a:rPr>
                        <a:t>4.4696</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400" b="0" i="0">
                          <a:solidFill>
                            <a:schemeClr val="tx1"/>
                          </a:solidFill>
                          <a:effectLst/>
                          <a:latin typeface="Helvetica Neue" panose="02000503000000020004" pitchFamily="2" charset="0"/>
                        </a:rPr>
                        <a:t>5.1078</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400" b="0" i="0">
                          <a:solidFill>
                            <a:schemeClr val="tx1"/>
                          </a:solidFill>
                          <a:effectLst/>
                          <a:latin typeface="Helvetica Neue" panose="02000503000000020004" pitchFamily="2" charset="0"/>
                        </a:rPr>
                        <a:t>165.31</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400" b="0" i="0" dirty="0">
                          <a:solidFill>
                            <a:schemeClr val="tx1"/>
                          </a:solidFill>
                          <a:effectLst/>
                          <a:latin typeface="Helvetica Neue" panose="02000503000000020004" pitchFamily="2" charset="0"/>
                        </a:rPr>
                        <a:t>42.2s</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extLst>
                  <a:ext uri="{0D108BD9-81ED-4DB2-BD59-A6C34878D82A}">
                    <a16:rowId xmlns:a16="http://schemas.microsoft.com/office/drawing/2014/main" val="2792650762"/>
                  </a:ext>
                </a:extLst>
              </a:tr>
            </a:tbl>
          </a:graphicData>
        </a:graphic>
      </p:graphicFrame>
    </p:spTree>
    <p:extLst>
      <p:ext uri="{BB962C8B-B14F-4D97-AF65-F5344CB8AC3E}">
        <p14:creationId xmlns:p14="http://schemas.microsoft.com/office/powerpoint/2010/main" val="33304082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F43DD68-B020-76AA-1E05-BC0414E97C71}"/>
              </a:ext>
            </a:extLst>
          </p:cNvPr>
          <p:cNvSpPr>
            <a:spLocks noGrp="1"/>
          </p:cNvSpPr>
          <p:nvPr>
            <p:ph idx="1"/>
          </p:nvPr>
        </p:nvSpPr>
        <p:spPr/>
        <p:txBody>
          <a:bodyPr/>
          <a:lstStyle/>
          <a:p>
            <a:r>
              <a:rPr lang="zh-CN" altLang="zh-CN" b="1" dirty="0"/>
              <a:t>损失曲线分析：</a:t>
            </a:r>
            <a:endParaRPr lang="zh-CN" altLang="zh-CN" dirty="0"/>
          </a:p>
          <a:p>
            <a:pPr lvl="1"/>
            <a:r>
              <a:rPr lang="zh-CN" altLang="zh-CN" dirty="0"/>
              <a:t>前 10 个 epoch loss 快速下降（PPL 从 602 降至 170），模型迅速学到基本的字符共现规律与标点用法。</a:t>
            </a:r>
          </a:p>
          <a:p>
            <a:pPr lvl="1"/>
            <a:r>
              <a:rPr lang="zh-CN" altLang="zh-CN" dirty="0"/>
              <a:t>第 10–18 epoch 进入平台期，验证 loss 缓慢优化至最优。</a:t>
            </a:r>
          </a:p>
          <a:p>
            <a:pPr lvl="1"/>
            <a:r>
              <a:rPr lang="zh-CN" altLang="zh-CN" dirty="0"/>
              <a:t>第 18 epoch 后验证 loss 略有回升，出现轻微过拟合迹象；可进一步采用早停（Early Stopping）在第 18 epoch 截止训练。</a:t>
            </a:r>
          </a:p>
          <a:p>
            <a:endParaRPr kumimoji="1" lang="zh-CN" altLang="en-US" dirty="0"/>
          </a:p>
        </p:txBody>
      </p:sp>
    </p:spTree>
    <p:extLst>
      <p:ext uri="{BB962C8B-B14F-4D97-AF65-F5344CB8AC3E}">
        <p14:creationId xmlns:p14="http://schemas.microsoft.com/office/powerpoint/2010/main" val="3915664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C23AAF4-1155-5C72-C7A5-C178177A531A}"/>
              </a:ext>
            </a:extLst>
          </p:cNvPr>
          <p:cNvSpPr>
            <a:spLocks noGrp="1"/>
          </p:cNvSpPr>
          <p:nvPr>
            <p:ph idx="1"/>
          </p:nvPr>
        </p:nvSpPr>
        <p:spPr>
          <a:xfrm>
            <a:off x="838200" y="3174023"/>
            <a:ext cx="10515600" cy="3002940"/>
          </a:xfrm>
        </p:spPr>
        <p:txBody>
          <a:bodyPr>
            <a:noAutofit/>
          </a:bodyPr>
          <a:lstStyle/>
          <a:p>
            <a:r>
              <a:rPr lang="zh-CN" altLang="zh-CN" sz="2000" b="1" dirty="0"/>
              <a:t>结果分析：</a:t>
            </a:r>
            <a:endParaRPr lang="zh-CN" altLang="zh-CN" sz="2000" dirty="0"/>
          </a:p>
          <a:p>
            <a:pPr lvl="1"/>
            <a:r>
              <a:rPr lang="zh-CN" altLang="zh-CN" sz="2000" b="1" dirty="0"/>
              <a:t>格式正确性：</a:t>
            </a:r>
            <a:r>
              <a:rPr lang="zh-CN" altLang="zh-CN" sz="2000" dirty="0"/>
              <a:t> 模型能正确在首句后添加逗号、句号等标点，并生成五言或七言句式，基本符合唐诗格律。</a:t>
            </a:r>
          </a:p>
          <a:p>
            <a:pPr lvl="1"/>
            <a:r>
              <a:rPr lang="zh-CN" altLang="zh-CN" sz="2000" b="1" dirty="0"/>
              <a:t>语义连贯性：</a:t>
            </a:r>
            <a:r>
              <a:rPr lang="zh-CN" altLang="zh-CN" sz="2000" dirty="0"/>
              <a:t> 续写内容在意象上与前文有一定关联（如「湖光秋月」后出现「清歌」「春波」），但整体语义与原诗差异较大，属于合理创作而非记忆复述。</a:t>
            </a:r>
          </a:p>
          <a:p>
            <a:pPr lvl="1"/>
            <a:r>
              <a:rPr lang="zh-CN" altLang="zh-CN" sz="2000" b="1" dirty="0"/>
              <a:t>不足：</a:t>
            </a:r>
            <a:r>
              <a:rPr lang="zh-CN" altLang="zh-CN" sz="2000" dirty="0"/>
              <a:t> 存在个别重复用词（如「一曲清歌一曲歌」），以及意象堆砌但逻辑衔接不够紧密的情况。这主要受限于字符级建模难以显式学习对仗规则，且 PPL=160 仍有较大优化空间。</a:t>
            </a:r>
          </a:p>
          <a:p>
            <a:pPr lvl="1"/>
            <a:r>
              <a:rPr lang="zh-CN" altLang="zh-CN" sz="2000" b="1" dirty="0"/>
              <a:t>改进方向：</a:t>
            </a:r>
            <a:r>
              <a:rPr lang="zh-CN" altLang="zh-CN" sz="2000" dirty="0"/>
              <a:t> 可增加训练 epoch 并配合早停；引入格律/韵脚约束；尝试更大规模预训练或 Transformer 架构；降低 temperature 提升确定性。</a:t>
            </a:r>
            <a:endParaRPr kumimoji="1" lang="zh-CN" altLang="en-US" sz="2000" dirty="0"/>
          </a:p>
        </p:txBody>
      </p:sp>
      <p:graphicFrame>
        <p:nvGraphicFramePr>
          <p:cNvPr id="4" name="表格 3">
            <a:extLst>
              <a:ext uri="{FF2B5EF4-FFF2-40B4-BE49-F238E27FC236}">
                <a16:creationId xmlns:a16="http://schemas.microsoft.com/office/drawing/2014/main" id="{F43A959E-324C-60DC-3A77-AA4E887B339A}"/>
              </a:ext>
            </a:extLst>
          </p:cNvPr>
          <p:cNvGraphicFramePr>
            <a:graphicFrameLocks noGrp="1"/>
          </p:cNvGraphicFramePr>
          <p:nvPr>
            <p:extLst>
              <p:ext uri="{D42A27DB-BD31-4B8C-83A1-F6EECF244321}">
                <p14:modId xmlns:p14="http://schemas.microsoft.com/office/powerpoint/2010/main" val="3735899077"/>
              </p:ext>
            </p:extLst>
          </p:nvPr>
        </p:nvGraphicFramePr>
        <p:xfrm>
          <a:off x="1504950" y="990270"/>
          <a:ext cx="9182100" cy="1874520"/>
        </p:xfrm>
        <a:graphic>
          <a:graphicData uri="http://schemas.openxmlformats.org/drawingml/2006/table">
            <a:tbl>
              <a:tblPr/>
              <a:tblGrid>
                <a:gridCol w="3060700">
                  <a:extLst>
                    <a:ext uri="{9D8B030D-6E8A-4147-A177-3AD203B41FA5}">
                      <a16:colId xmlns:a16="http://schemas.microsoft.com/office/drawing/2014/main" val="861348142"/>
                    </a:ext>
                  </a:extLst>
                </a:gridCol>
                <a:gridCol w="3060700">
                  <a:extLst>
                    <a:ext uri="{9D8B030D-6E8A-4147-A177-3AD203B41FA5}">
                      <a16:colId xmlns:a16="http://schemas.microsoft.com/office/drawing/2014/main" val="557066675"/>
                    </a:ext>
                  </a:extLst>
                </a:gridCol>
                <a:gridCol w="3060700">
                  <a:extLst>
                    <a:ext uri="{9D8B030D-6E8A-4147-A177-3AD203B41FA5}">
                      <a16:colId xmlns:a16="http://schemas.microsoft.com/office/drawing/2014/main" val="1377498444"/>
                    </a:ext>
                  </a:extLst>
                </a:gridCol>
              </a:tblGrid>
              <a:tr h="0">
                <a:tc>
                  <a:txBody>
                    <a:bodyPr/>
                    <a:lstStyle/>
                    <a:p>
                      <a:pPr marL="0" marR="0" algn="l" fontAlgn="t">
                        <a:buNone/>
                      </a:pPr>
                      <a:r>
                        <a:rPr lang="zh-CN" sz="1400" b="1" i="0" dirty="0">
                          <a:solidFill>
                            <a:schemeClr val="tx1"/>
                          </a:solidFill>
                          <a:effectLst/>
                          <a:latin typeface="Helvetica Neue" panose="02000503000000020004" pitchFamily="2" charset="0"/>
                        </a:rPr>
                        <a:t>给定首句</a:t>
                      </a:r>
                    </a:p>
                  </a:txBody>
                  <a:tcPr marL="95250" marR="95250" marT="47625" marB="47625">
                    <a:lnL w="9525" cap="flat" cmpd="sng" algn="ctr">
                      <a:solidFill>
                        <a:srgbClr val="20AF05"/>
                      </a:solidFill>
                      <a:prstDash val="solid"/>
                      <a:round/>
                      <a:headEnd type="none" w="med" len="med"/>
                      <a:tailEnd type="none" w="med" len="med"/>
                    </a:lnL>
                    <a:lnR w="9525" cap="flat" cmpd="sng" algn="ctr">
                      <a:solidFill>
                        <a:srgbClr val="40A805"/>
                      </a:solidFill>
                      <a:prstDash val="solid"/>
                      <a:round/>
                      <a:headEnd type="none" w="med" len="med"/>
                      <a:tailEnd type="none" w="med" len="med"/>
                    </a:lnR>
                    <a:lnT w="9525" cap="flat" cmpd="sng" algn="ctr">
                      <a:solidFill>
                        <a:srgbClr val="20AF05"/>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400" b="1" i="0" dirty="0">
                          <a:solidFill>
                            <a:schemeClr val="tx1"/>
                          </a:solidFill>
                          <a:effectLst/>
                          <a:latin typeface="Helvetica Neue" panose="02000503000000020004" pitchFamily="2" charset="0"/>
                        </a:rPr>
                        <a:t>模型续写结果</a:t>
                      </a:r>
                    </a:p>
                  </a:txBody>
                  <a:tcPr marL="95250" marR="95250" marT="47625" marB="47625">
                    <a:lnL w="9525" cap="flat" cmpd="sng" algn="ctr">
                      <a:solidFill>
                        <a:srgbClr val="40A805"/>
                      </a:solidFill>
                      <a:prstDash val="solid"/>
                      <a:round/>
                      <a:headEnd type="none" w="med" len="med"/>
                      <a:tailEnd type="none" w="med" len="med"/>
                    </a:lnL>
                    <a:lnR w="9525" cap="flat" cmpd="sng" algn="ctr">
                      <a:solidFill>
                        <a:srgbClr val="608405"/>
                      </a:solidFill>
                      <a:prstDash val="solid"/>
                      <a:round/>
                      <a:headEnd type="none" w="med" len="med"/>
                      <a:tailEnd type="none" w="med" len="med"/>
                    </a:lnR>
                    <a:lnT w="9525" cap="flat" cmpd="sng" algn="ctr">
                      <a:solidFill>
                        <a:srgbClr val="40A805"/>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400" b="1" i="0">
                          <a:solidFill>
                            <a:schemeClr val="tx1"/>
                          </a:solidFill>
                          <a:effectLst/>
                          <a:latin typeface="Helvetica Neue" panose="02000503000000020004" pitchFamily="2" charset="0"/>
                        </a:rPr>
                        <a:t>原诗（参考）</a:t>
                      </a:r>
                    </a:p>
                  </a:txBody>
                  <a:tcPr marL="95250" marR="95250" marT="47625" marB="47625">
                    <a:lnL w="9525" cap="flat" cmpd="sng" algn="ctr">
                      <a:solidFill>
                        <a:srgbClr val="608405"/>
                      </a:solidFill>
                      <a:prstDash val="solid"/>
                      <a:round/>
                      <a:headEnd type="none" w="med" len="med"/>
                      <a:tailEnd type="none" w="med" len="med"/>
                    </a:lnL>
                    <a:lnR w="9525" cap="flat" cmpd="sng" algn="ctr">
                      <a:solidFill>
                        <a:srgbClr val="608405"/>
                      </a:solidFill>
                      <a:prstDash val="solid"/>
                      <a:round/>
                      <a:headEnd type="none" w="med" len="med"/>
                      <a:tailEnd type="none" w="med" len="med"/>
                    </a:lnR>
                    <a:lnT w="9525" cap="flat" cmpd="sng" algn="ctr">
                      <a:solidFill>
                        <a:srgbClr val="608405"/>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extLst>
                  <a:ext uri="{0D108BD9-81ED-4DB2-BD59-A6C34878D82A}">
                    <a16:rowId xmlns:a16="http://schemas.microsoft.com/office/drawing/2014/main" val="2680818577"/>
                  </a:ext>
                </a:extLst>
              </a:tr>
              <a:tr h="0">
                <a:tc>
                  <a:txBody>
                    <a:bodyPr/>
                    <a:lstStyle/>
                    <a:p>
                      <a:pPr marL="0" marR="0" algn="l" fontAlgn="t">
                        <a:buNone/>
                      </a:pPr>
                      <a:r>
                        <a:rPr lang="zh-CN" sz="1400" b="0" i="0" dirty="0">
                          <a:solidFill>
                            <a:schemeClr val="tx1"/>
                          </a:solidFill>
                          <a:effectLst/>
                          <a:latin typeface="Helvetica Neue" panose="02000503000000020004" pitchFamily="2" charset="0"/>
                        </a:rPr>
                        <a:t>湖光秋月两相和</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400" b="0" i="0">
                          <a:solidFill>
                            <a:schemeClr val="tx1"/>
                          </a:solidFill>
                          <a:effectLst/>
                          <a:latin typeface="Helvetica Neue" panose="02000503000000020004" pitchFamily="2" charset="0"/>
                        </a:rPr>
                        <a:t>湖光秋月两相和，一曲清歌一曲歌。不似玉郎无限意，一声啼处到春波。</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400" b="0" i="0" dirty="0">
                          <a:solidFill>
                            <a:schemeClr val="tx1"/>
                          </a:solidFill>
                          <a:effectLst/>
                          <a:latin typeface="Helvetica Neue" panose="02000503000000020004" pitchFamily="2" charset="0"/>
                        </a:rPr>
                        <a:t>湖光秋月两相和，潭面无风镜未磨。遥望洞庭山水翠，白银盘里一青螺。</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extLst>
                  <a:ext uri="{0D108BD9-81ED-4DB2-BD59-A6C34878D82A}">
                    <a16:rowId xmlns:a16="http://schemas.microsoft.com/office/drawing/2014/main" val="3071008976"/>
                  </a:ext>
                </a:extLst>
              </a:tr>
              <a:tr h="0">
                <a:tc>
                  <a:txBody>
                    <a:bodyPr/>
                    <a:lstStyle/>
                    <a:p>
                      <a:pPr marL="0" marR="0" algn="l" fontAlgn="t">
                        <a:buNone/>
                      </a:pPr>
                      <a:r>
                        <a:rPr lang="zh-CN" sz="1400" b="0" i="0">
                          <a:solidFill>
                            <a:schemeClr val="tx1"/>
                          </a:solidFill>
                          <a:effectLst/>
                          <a:latin typeface="Helvetica Neue" panose="02000503000000020004" pitchFamily="2" charset="0"/>
                        </a:rPr>
                        <a:t>春眠不觉晓</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400" b="0" i="0">
                          <a:solidFill>
                            <a:schemeClr val="tx1"/>
                          </a:solidFill>
                          <a:effectLst/>
                          <a:latin typeface="Helvetica Neue" panose="02000503000000020004" pitchFamily="2" charset="0"/>
                        </a:rPr>
                        <a:t>春眠不觉晓，日暮又相思。风动秋风夜，风吹落玉枝。</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400" b="0" i="0">
                          <a:solidFill>
                            <a:schemeClr val="tx1"/>
                          </a:solidFill>
                          <a:effectLst/>
                          <a:latin typeface="Helvetica Neue" panose="02000503000000020004" pitchFamily="2" charset="0"/>
                        </a:rPr>
                        <a:t>春眠不觉晓，处处闻啼鸟。夜来风雨声，花落知多少。</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extLst>
                  <a:ext uri="{0D108BD9-81ED-4DB2-BD59-A6C34878D82A}">
                    <a16:rowId xmlns:a16="http://schemas.microsoft.com/office/drawing/2014/main" val="1092894009"/>
                  </a:ext>
                </a:extLst>
              </a:tr>
              <a:tr h="0">
                <a:tc>
                  <a:txBody>
                    <a:bodyPr/>
                    <a:lstStyle/>
                    <a:p>
                      <a:pPr marL="0" marR="0" algn="l" fontAlgn="t">
                        <a:buNone/>
                      </a:pPr>
                      <a:r>
                        <a:rPr lang="zh-CN" sz="1400" b="0" i="0" dirty="0">
                          <a:solidFill>
                            <a:schemeClr val="tx1"/>
                          </a:solidFill>
                          <a:effectLst/>
                          <a:latin typeface="Helvetica Neue" panose="02000503000000020004" pitchFamily="2" charset="0"/>
                        </a:rPr>
                        <a:t>床前明月光</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400" b="0" i="0">
                          <a:solidFill>
                            <a:schemeClr val="tx1"/>
                          </a:solidFill>
                          <a:effectLst/>
                          <a:latin typeface="Helvetica Neue" panose="02000503000000020004" pitchFamily="2" charset="0"/>
                        </a:rPr>
                        <a:t>床前明月光，池上秋风起。独自见秋光，空余落花处。</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tc>
                  <a:txBody>
                    <a:bodyPr/>
                    <a:lstStyle/>
                    <a:p>
                      <a:pPr marL="0" marR="0" algn="l" fontAlgn="t">
                        <a:buNone/>
                      </a:pPr>
                      <a:r>
                        <a:rPr lang="zh-CN" sz="1400" b="0" i="0" dirty="0">
                          <a:solidFill>
                            <a:schemeClr val="tx1"/>
                          </a:solidFill>
                          <a:effectLst/>
                          <a:latin typeface="Helvetica Neue" panose="02000503000000020004" pitchFamily="2" charset="0"/>
                        </a:rPr>
                        <a:t>床前明月光，疑是地上霜。举头望明月，低头思故乡。</a:t>
                      </a:r>
                    </a:p>
                  </a:txBody>
                  <a:tcPr marL="95250" marR="95250" marT="47625" marB="47625">
                    <a:lnL w="9525" cap="flat" cmpd="sng" algn="ctr">
                      <a:solidFill>
                        <a:srgbClr val="474D54"/>
                      </a:solidFill>
                      <a:prstDash val="solid"/>
                      <a:round/>
                      <a:headEnd type="none" w="med" len="med"/>
                      <a:tailEnd type="none" w="med" len="med"/>
                    </a:lnL>
                    <a:lnR w="9525" cap="flat" cmpd="sng" algn="ctr">
                      <a:solidFill>
                        <a:srgbClr val="474D54"/>
                      </a:solidFill>
                      <a:prstDash val="solid"/>
                      <a:round/>
                      <a:headEnd type="none" w="med" len="med"/>
                      <a:tailEnd type="none" w="med" len="med"/>
                    </a:lnR>
                    <a:lnT w="9525" cap="flat" cmpd="sng" algn="ctr">
                      <a:solidFill>
                        <a:srgbClr val="474D54"/>
                      </a:solidFill>
                      <a:prstDash val="solid"/>
                      <a:round/>
                      <a:headEnd type="none" w="med" len="med"/>
                      <a:tailEnd type="none" w="med" len="med"/>
                    </a:lnT>
                    <a:lnB w="9525" cap="flat" cmpd="sng" algn="ctr">
                      <a:solidFill>
                        <a:srgbClr val="474D54"/>
                      </a:solidFill>
                      <a:prstDash val="solid"/>
                      <a:round/>
                      <a:headEnd type="none" w="med" len="med"/>
                      <a:tailEnd type="none" w="med" len="med"/>
                    </a:lnB>
                    <a:noFill/>
                  </a:tcPr>
                </a:tc>
                <a:extLst>
                  <a:ext uri="{0D108BD9-81ED-4DB2-BD59-A6C34878D82A}">
                    <a16:rowId xmlns:a16="http://schemas.microsoft.com/office/drawing/2014/main" val="3303934264"/>
                  </a:ext>
                </a:extLst>
              </a:tr>
            </a:tbl>
          </a:graphicData>
        </a:graphic>
      </p:graphicFrame>
      <p:sp>
        <p:nvSpPr>
          <p:cNvPr id="6" name="文本框 5">
            <a:extLst>
              <a:ext uri="{FF2B5EF4-FFF2-40B4-BE49-F238E27FC236}">
                <a16:creationId xmlns:a16="http://schemas.microsoft.com/office/drawing/2014/main" id="{DEF60A3A-FBE0-75F6-3AB5-3CED8D8AD1C1}"/>
              </a:ext>
            </a:extLst>
          </p:cNvPr>
          <p:cNvSpPr txBox="1"/>
          <p:nvPr/>
        </p:nvSpPr>
        <p:spPr>
          <a:xfrm>
            <a:off x="838200" y="280927"/>
            <a:ext cx="6097464" cy="400110"/>
          </a:xfrm>
          <a:prstGeom prst="rect">
            <a:avLst/>
          </a:prstGeom>
          <a:noFill/>
        </p:spPr>
        <p:txBody>
          <a:bodyPr wrap="square">
            <a:spAutoFit/>
          </a:bodyPr>
          <a:lstStyle/>
          <a:p>
            <a:r>
              <a:rPr lang="zh-CN" altLang="zh-CN" sz="2000" b="1" dirty="0"/>
              <a:t>续写测试结果：</a:t>
            </a:r>
            <a:endParaRPr lang="en-US" altLang="zh-CN" sz="2000" b="1" dirty="0"/>
          </a:p>
        </p:txBody>
      </p:sp>
    </p:spTree>
    <p:extLst>
      <p:ext uri="{BB962C8B-B14F-4D97-AF65-F5344CB8AC3E}">
        <p14:creationId xmlns:p14="http://schemas.microsoft.com/office/powerpoint/2010/main" val="36117991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FBC423-A37F-1B31-4DE0-4B61CA23F348}"/>
              </a:ext>
            </a:extLst>
          </p:cNvPr>
          <p:cNvSpPr>
            <a:spLocks noGrp="1"/>
          </p:cNvSpPr>
          <p:nvPr>
            <p:ph type="title"/>
          </p:nvPr>
        </p:nvSpPr>
        <p:spPr/>
        <p:txBody>
          <a:bodyPr/>
          <a:lstStyle/>
          <a:p>
            <a:r>
              <a:rPr lang="zh-CN" altLang="zh-CN" b="1" dirty="0"/>
              <a:t>总结</a:t>
            </a:r>
            <a:endParaRPr kumimoji="1" lang="zh-CN" altLang="en-US" dirty="0"/>
          </a:p>
        </p:txBody>
      </p:sp>
      <p:sp>
        <p:nvSpPr>
          <p:cNvPr id="3" name="内容占位符 2">
            <a:extLst>
              <a:ext uri="{FF2B5EF4-FFF2-40B4-BE49-F238E27FC236}">
                <a16:creationId xmlns:a16="http://schemas.microsoft.com/office/drawing/2014/main" id="{72C49B6F-2DC1-5D22-6125-B27408F7A0B0}"/>
              </a:ext>
            </a:extLst>
          </p:cNvPr>
          <p:cNvSpPr>
            <a:spLocks noGrp="1"/>
          </p:cNvSpPr>
          <p:nvPr>
            <p:ph idx="1"/>
          </p:nvPr>
        </p:nvSpPr>
        <p:spPr/>
        <p:txBody>
          <a:bodyPr/>
          <a:lstStyle/>
          <a:p>
            <a:r>
              <a:rPr lang="zh-CN" altLang="zh-CN" dirty="0"/>
              <a:t>本实验成功实现了基于深度学习的唐诗自动续写系统。在 57,580 首唐诗数据集上，采用 Embedding + 3 层 LSTM + 因果自注意力 + 双层全连接层的增强架构，以字符级语言模型方式训练，最终验证困惑度降至 </a:t>
            </a:r>
            <a:r>
              <a:rPr lang="zh-CN" altLang="zh-CN" b="1" dirty="0"/>
              <a:t>160.93</a:t>
            </a:r>
            <a:r>
              <a:rPr lang="zh-CN" altLang="zh-CN" dirty="0"/>
              <a:t>。模型能够根据用户输入的首句自动生成格式基本正确、语义基本连贯的后续诗句。</a:t>
            </a:r>
          </a:p>
          <a:p>
            <a:r>
              <a:rPr lang="zh-CN" altLang="zh-CN" dirty="0"/>
              <a:t>实验过程中，针对数据集左填充格式导致注意力层 NaN 的问题，设计了左对齐预处理方案，体现了对数据与模型协同设计的重视。推理阶段采用 temperature + top-k 采样策略，在多样性与流畅性之间取得平衡。</a:t>
            </a:r>
          </a:p>
        </p:txBody>
      </p:sp>
    </p:spTree>
    <p:extLst>
      <p:ext uri="{BB962C8B-B14F-4D97-AF65-F5344CB8AC3E}">
        <p14:creationId xmlns:p14="http://schemas.microsoft.com/office/powerpoint/2010/main" val="186044950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1337</Words>
  <Application>Microsoft Macintosh PowerPoint</Application>
  <PresentationFormat>宽屏</PresentationFormat>
  <Paragraphs>111</Paragraphs>
  <Slides>10</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10</vt:i4>
      </vt:variant>
    </vt:vector>
  </HeadingPairs>
  <TitlesOfParts>
    <vt:vector size="15" baseType="lpstr">
      <vt:lpstr>等线</vt:lpstr>
      <vt:lpstr>等线 Light</vt:lpstr>
      <vt:lpstr>Arial</vt:lpstr>
      <vt:lpstr>Helvetica Neue</vt:lpstr>
      <vt:lpstr>Office 主题​​</vt:lpstr>
      <vt:lpstr>实验三：基于 LSTM 的唐诗自动续写</vt:lpstr>
      <vt:lpstr>概述</vt:lpstr>
      <vt:lpstr>网络结构设计</vt:lpstr>
      <vt:lpstr>损失函数设计</vt:lpstr>
      <vt:lpstr>优化器设计</vt:lpstr>
      <vt:lpstr>创新点</vt:lpstr>
      <vt:lpstr>实验分析</vt:lpstr>
      <vt:lpstr>PowerPoint 演示文稿</vt:lpstr>
      <vt:lpstr>PowerPoint 演示文稿</vt:lpstr>
      <vt:lpstr>总结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立景 朱</dc:creator>
  <cp:lastModifiedBy>立景 朱</cp:lastModifiedBy>
  <cp:revision>1</cp:revision>
  <dcterms:created xsi:type="dcterms:W3CDTF">2026-06-19T12:15:14Z</dcterms:created>
  <dcterms:modified xsi:type="dcterms:W3CDTF">2026-06-19T12:27:22Z</dcterms:modified>
</cp:coreProperties>
</file>